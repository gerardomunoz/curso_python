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h0b/O9XHRoG2ND/d9yMOW9I9iO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5459f6e6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5459f6e6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5459f6e6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395459f6e6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5459f6e6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5459f6e6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2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2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s://docs.micropython.org/en/v1.17/library/machine.html#machine.freq"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s"/>
              <a:t>Instrucciones PIO</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61" name="Google Shape;61;p2"/>
          <p:cNvPicPr preferRelativeResize="0"/>
          <p:nvPr/>
        </p:nvPicPr>
        <p:blipFill rotWithShape="1">
          <a:blip r:embed="rId3">
            <a:alphaModFix/>
          </a:blip>
          <a:srcRect b="0" l="13490" r="27081" t="0"/>
          <a:stretch/>
        </p:blipFill>
        <p:spPr>
          <a:xfrm>
            <a:off x="2040713" y="1322525"/>
            <a:ext cx="5062573" cy="382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67" name="Google Shape;67;p3"/>
          <p:cNvPicPr preferRelativeResize="0"/>
          <p:nvPr/>
        </p:nvPicPr>
        <p:blipFill rotWithShape="1">
          <a:blip r:embed="rId3">
            <a:alphaModFix/>
          </a:blip>
          <a:srcRect b="0" l="0" r="0" t="0"/>
          <a:stretch/>
        </p:blipFill>
        <p:spPr>
          <a:xfrm>
            <a:off x="0" y="1244925"/>
            <a:ext cx="5806000" cy="3141925"/>
          </a:xfrm>
          <a:prstGeom prst="rect">
            <a:avLst/>
          </a:prstGeom>
          <a:noFill/>
          <a:ln>
            <a:noFill/>
          </a:ln>
        </p:spPr>
      </p:pic>
      <p:sp>
        <p:nvSpPr>
          <p:cNvPr id="68" name="Google Shape;68;p3"/>
          <p:cNvSpPr txBox="1"/>
          <p:nvPr/>
        </p:nvSpPr>
        <p:spPr>
          <a:xfrm>
            <a:off x="5721638" y="667425"/>
            <a:ext cx="3416400" cy="3205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63636"/>
              </a:lnSpc>
              <a:spcBef>
                <a:spcPts val="0"/>
              </a:spcBef>
              <a:spcAft>
                <a:spcPts val="0"/>
              </a:spcAft>
              <a:buNone/>
            </a:pPr>
            <a:r>
              <a:rPr lang="es" sz="1200">
                <a:solidFill>
                  <a:srgbClr val="404040"/>
                </a:solidFill>
                <a:highlight>
                  <a:srgbClr val="FCFCFC"/>
                </a:highlight>
              </a:rPr>
              <a:t>The clock divider is computed as </a:t>
            </a:r>
            <a:r>
              <a:rPr b="1" lang="es" sz="900">
                <a:solidFill>
                  <a:srgbClr val="E74C3C"/>
                </a:solidFill>
                <a:highlight>
                  <a:srgbClr val="FFFFFF"/>
                </a:highlight>
                <a:latin typeface="Courier New"/>
                <a:ea typeface="Courier New"/>
                <a:cs typeface="Courier New"/>
                <a:sym typeface="Courier New"/>
              </a:rPr>
              <a:t>system clock frequency / freq</a:t>
            </a:r>
            <a:r>
              <a:rPr lang="es" sz="1200">
                <a:solidFill>
                  <a:srgbClr val="404040"/>
                </a:solidFill>
                <a:highlight>
                  <a:srgbClr val="FCFCFC"/>
                </a:highlight>
              </a:rPr>
              <a:t>, so there can be slight rounding errors.</a:t>
            </a:r>
            <a:endParaRPr sz="1200">
              <a:solidFill>
                <a:srgbClr val="404040"/>
              </a:solidFill>
              <a:highlight>
                <a:srgbClr val="FCFCFC"/>
              </a:highlight>
            </a:endParaRPr>
          </a:p>
          <a:p>
            <a:pPr indent="0" lvl="0" marL="0" rtl="0" algn="l">
              <a:lnSpc>
                <a:spcPct val="163636"/>
              </a:lnSpc>
              <a:spcBef>
                <a:spcPts val="900"/>
              </a:spcBef>
              <a:spcAft>
                <a:spcPts val="0"/>
              </a:spcAft>
              <a:buNone/>
            </a:pPr>
            <a:r>
              <a:rPr lang="es" sz="1200">
                <a:solidFill>
                  <a:srgbClr val="404040"/>
                </a:solidFill>
                <a:highlight>
                  <a:srgbClr val="FCFCFC"/>
                </a:highlight>
              </a:rPr>
              <a:t>The minimum possible clock divider is one 65536th of the system clock: so at the default system clock frequency of 125MHz, the minimum value of </a:t>
            </a:r>
            <a:r>
              <a:rPr i="1" lang="es" sz="1200">
                <a:solidFill>
                  <a:srgbClr val="404040"/>
                </a:solidFill>
                <a:highlight>
                  <a:srgbClr val="FCFCFC"/>
                </a:highlight>
              </a:rPr>
              <a:t>freq</a:t>
            </a:r>
            <a:r>
              <a:rPr lang="es" sz="1200">
                <a:solidFill>
                  <a:srgbClr val="404040"/>
                </a:solidFill>
                <a:highlight>
                  <a:srgbClr val="FCFCFC"/>
                </a:highlight>
              </a:rPr>
              <a:t> is </a:t>
            </a:r>
            <a:r>
              <a:rPr b="1" lang="es" sz="900">
                <a:solidFill>
                  <a:srgbClr val="E74C3C"/>
                </a:solidFill>
                <a:highlight>
                  <a:srgbClr val="FFFFFF"/>
                </a:highlight>
                <a:latin typeface="Courier New"/>
                <a:ea typeface="Courier New"/>
                <a:cs typeface="Courier New"/>
                <a:sym typeface="Courier New"/>
              </a:rPr>
              <a:t>1908</a:t>
            </a:r>
            <a:r>
              <a:rPr lang="es" sz="1200">
                <a:solidFill>
                  <a:srgbClr val="404040"/>
                </a:solidFill>
                <a:highlight>
                  <a:srgbClr val="FCFCFC"/>
                </a:highlight>
              </a:rPr>
              <a:t>. To run state machines at slower frequencies, you’ll need to reduce the system clock speed with </a:t>
            </a:r>
            <a:r>
              <a:rPr b="1" lang="es" sz="900">
                <a:solidFill>
                  <a:srgbClr val="404040"/>
                </a:solidFill>
                <a:highlight>
                  <a:srgbClr val="FFFFFF"/>
                </a:highlight>
                <a:uFill>
                  <a:noFill/>
                </a:uFill>
                <a:latin typeface="Courier New"/>
                <a:ea typeface="Courier New"/>
                <a:cs typeface="Courier New"/>
                <a:sym typeface="Courier New"/>
                <a:hlinkClick r:id="rId4">
                  <a:extLst>
                    <a:ext uri="{A12FA001-AC4F-418D-AE19-62706E023703}">
                      <ahyp:hlinkClr val="tx"/>
                    </a:ext>
                  </a:extLst>
                </a:hlinkClick>
              </a:rPr>
              <a:t>machine.freq()</a:t>
            </a:r>
            <a:r>
              <a:rPr lang="es" sz="1200">
                <a:solidFill>
                  <a:srgbClr val="404040"/>
                </a:solidFill>
                <a:highlight>
                  <a:srgbClr val="FCFCFC"/>
                </a:highlight>
              </a:rPr>
              <a:t>.</a:t>
            </a:r>
            <a:endParaRPr sz="1200">
              <a:solidFill>
                <a:srgbClr val="404040"/>
              </a:solidFill>
              <a:highlight>
                <a:srgbClr val="FCFCFC"/>
              </a:highlight>
            </a:endParaRPr>
          </a:p>
        </p:txBody>
      </p:sp>
      <p:sp>
        <p:nvSpPr>
          <p:cNvPr id="69" name="Google Shape;69;p3"/>
          <p:cNvSpPr txBox="1"/>
          <p:nvPr/>
        </p:nvSpPr>
        <p:spPr>
          <a:xfrm>
            <a:off x="5721638" y="3872625"/>
            <a:ext cx="2170500" cy="1015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RP2040 125MHz</a:t>
            </a:r>
            <a:endParaRPr sz="1800">
              <a:solidFill>
                <a:schemeClr val="dk2"/>
              </a:solidFill>
            </a:endParaRPr>
          </a:p>
          <a:p>
            <a:pPr indent="0" lvl="0" marL="0" rtl="0" algn="l">
              <a:spcBef>
                <a:spcPts val="0"/>
              </a:spcBef>
              <a:spcAft>
                <a:spcPts val="0"/>
              </a:spcAft>
              <a:buNone/>
            </a:pPr>
            <a:r>
              <a:rPr lang="es" sz="1800">
                <a:solidFill>
                  <a:schemeClr val="dk2"/>
                </a:solidFill>
              </a:rPr>
              <a:t>RP2350 150MHz</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0" name="Google Shape;70;p3"/>
          <p:cNvSpPr txBox="1"/>
          <p:nvPr/>
        </p:nvSpPr>
        <p:spPr>
          <a:xfrm>
            <a:off x="5721638" y="205725"/>
            <a:ext cx="1328400" cy="46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RP2040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76" name="Google Shape;76;p4"/>
          <p:cNvPicPr preferRelativeResize="0"/>
          <p:nvPr/>
        </p:nvPicPr>
        <p:blipFill rotWithShape="1">
          <a:blip r:embed="rId3">
            <a:alphaModFix/>
          </a:blip>
          <a:srcRect b="0" l="6239" r="10453" t="0"/>
          <a:stretch/>
        </p:blipFill>
        <p:spPr>
          <a:xfrm>
            <a:off x="179950" y="35675"/>
            <a:ext cx="8742948" cy="4706826"/>
          </a:xfrm>
          <a:prstGeom prst="rect">
            <a:avLst/>
          </a:prstGeom>
          <a:noFill/>
          <a:ln>
            <a:noFill/>
          </a:ln>
        </p:spPr>
      </p:pic>
      <p:sp>
        <p:nvSpPr>
          <p:cNvPr id="77" name="Google Shape;77;p4"/>
          <p:cNvSpPr txBox="1"/>
          <p:nvPr/>
        </p:nvSpPr>
        <p:spPr>
          <a:xfrm>
            <a:off x="4462375" y="4404600"/>
            <a:ext cx="6687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bits(Delay) + bits(side-set) = 5</a:t>
            </a:r>
            <a:endParaRPr sz="1800">
              <a:solidFill>
                <a:schemeClr val="dk2"/>
              </a:solidFill>
            </a:endParaRPr>
          </a:p>
          <a:p>
            <a:pPr indent="0" lvl="0" marL="0" rtl="0" algn="l">
              <a:spcBef>
                <a:spcPts val="0"/>
              </a:spcBef>
              <a:spcAft>
                <a:spcPts val="0"/>
              </a:spcAft>
              <a:buNone/>
            </a:pPr>
            <a:r>
              <a:rPr lang="es" sz="1800">
                <a:solidFill>
                  <a:schemeClr val="dk2"/>
                </a:solidFill>
              </a:rPr>
              <a:t>sideset_count=bits(side-set)</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95459f6e61_0_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3" name="Google Shape;83;g395459f6e61_0_24"/>
          <p:cNvSpPr txBox="1"/>
          <p:nvPr>
            <p:ph idx="1" type="body"/>
          </p:nvPr>
        </p:nvSpPr>
        <p:spPr>
          <a:xfrm>
            <a:off x="74675" y="1257475"/>
            <a:ext cx="39300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007020"/>
                </a:solidFill>
                <a:latin typeface="Courier New"/>
                <a:ea typeface="Courier New"/>
                <a:cs typeface="Courier New"/>
                <a:sym typeface="Courier New"/>
              </a:rPr>
              <a:t>from</a:t>
            </a:r>
            <a:r>
              <a:rPr lang="es" sz="1200">
                <a:solidFill>
                  <a:srgbClr val="BBBBBB"/>
                </a:solidFill>
                <a:latin typeface="Courier New"/>
                <a:ea typeface="Courier New"/>
                <a:cs typeface="Courier New"/>
                <a:sym typeface="Courier New"/>
              </a:rPr>
              <a:t> </a:t>
            </a:r>
            <a:r>
              <a:rPr b="1" lang="es" sz="1200">
                <a:solidFill>
                  <a:srgbClr val="0E84B5"/>
                </a:solidFill>
                <a:latin typeface="Courier New"/>
                <a:ea typeface="Courier New"/>
                <a:cs typeface="Courier New"/>
                <a:sym typeface="Courier New"/>
              </a:rPr>
              <a:t>machine</a:t>
            </a:r>
            <a:r>
              <a:rPr lang="es" sz="1200">
                <a:solidFill>
                  <a:srgbClr val="BBBBBB"/>
                </a:solidFill>
                <a:latin typeface="Courier New"/>
                <a:ea typeface="Courier New"/>
                <a:cs typeface="Courier New"/>
                <a:sym typeface="Courier New"/>
              </a:rPr>
              <a:t> </a:t>
            </a:r>
            <a:r>
              <a:rPr b="1" lang="es" sz="1200">
                <a:solidFill>
                  <a:srgbClr val="007020"/>
                </a:solidFill>
                <a:latin typeface="Courier New"/>
                <a:ea typeface="Courier New"/>
                <a:cs typeface="Courier New"/>
                <a:sym typeface="Courier New"/>
              </a:rPr>
              <a:t>import</a:t>
            </a:r>
            <a:r>
              <a:rPr lang="es" sz="1200">
                <a:solidFill>
                  <a:srgbClr val="404040"/>
                </a:solidFill>
                <a:latin typeface="Courier New"/>
                <a:ea typeface="Courier New"/>
                <a:cs typeface="Courier New"/>
                <a:sym typeface="Courier New"/>
              </a:rPr>
              <a:t> Pin</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7020"/>
                </a:solidFill>
                <a:latin typeface="Courier New"/>
                <a:ea typeface="Courier New"/>
                <a:cs typeface="Courier New"/>
                <a:sym typeface="Courier New"/>
              </a:rPr>
              <a:t>import</a:t>
            </a:r>
            <a:r>
              <a:rPr lang="es" sz="1200">
                <a:solidFill>
                  <a:srgbClr val="BBBBBB"/>
                </a:solidFill>
                <a:latin typeface="Courier New"/>
                <a:ea typeface="Courier New"/>
                <a:cs typeface="Courier New"/>
                <a:sym typeface="Courier New"/>
              </a:rPr>
              <a:t> </a:t>
            </a:r>
            <a:r>
              <a:rPr b="1" lang="es" sz="1200">
                <a:solidFill>
                  <a:srgbClr val="0E84B5"/>
                </a:solidFill>
                <a:latin typeface="Courier New"/>
                <a:ea typeface="Courier New"/>
                <a:cs typeface="Courier New"/>
                <a:sym typeface="Courier New"/>
              </a:rPr>
              <a:t>rp2</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555555"/>
                </a:solidFill>
                <a:latin typeface="Courier New"/>
                <a:ea typeface="Courier New"/>
                <a:cs typeface="Courier New"/>
                <a:sym typeface="Courier New"/>
              </a:rPr>
              <a:t>—----------------------&gt;&gt;&gt;&gt;&gt;&gt;&gt;&gt;&gt;&gt;&gt;&gt;&gt;&gt;&gt;&gt;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t/>
            </a:r>
            <a:endParaRPr i="1" sz="1200">
              <a:solidFill>
                <a:srgbClr val="408090"/>
              </a:solidFill>
              <a:latin typeface="Courier New"/>
              <a:ea typeface="Courier New"/>
              <a:cs typeface="Courier New"/>
              <a:sym typeface="Courier New"/>
            </a:endParaRPr>
          </a:p>
          <a:p>
            <a:pPr indent="0" lvl="0" marL="0" rtl="0" algn="l">
              <a:spcBef>
                <a:spcPts val="0"/>
              </a:spcBef>
              <a:spcAft>
                <a:spcPts val="0"/>
              </a:spcAft>
              <a:buNone/>
            </a:pPr>
            <a:r>
              <a:t/>
            </a:r>
            <a:endParaRPr i="1" sz="1200">
              <a:solidFill>
                <a:srgbClr val="408090"/>
              </a:solidFill>
              <a:latin typeface="Courier New"/>
              <a:ea typeface="Courier New"/>
              <a:cs typeface="Courier New"/>
              <a:sym typeface="Courier New"/>
            </a:endParaRPr>
          </a:p>
          <a:p>
            <a:pPr indent="0" lvl="0" marL="0" rtl="0" algn="l">
              <a:spcBef>
                <a:spcPts val="0"/>
              </a:spcBef>
              <a:spcAft>
                <a:spcPts val="0"/>
              </a:spcAft>
              <a:buNone/>
            </a:pPr>
            <a:r>
              <a:rPr i="1" lang="es" sz="1200">
                <a:solidFill>
                  <a:srgbClr val="408090"/>
                </a:solidFill>
                <a:latin typeface="Courier New"/>
                <a:ea typeface="Courier New"/>
                <a:cs typeface="Courier New"/>
                <a:sym typeface="Courier New"/>
              </a:rPr>
              <a:t># Create and start a StateMachine </a:t>
            </a:r>
            <a:endParaRPr i="1" sz="1200">
              <a:solidFill>
                <a:srgbClr val="408090"/>
              </a:solidFill>
              <a:latin typeface="Courier New"/>
              <a:ea typeface="Courier New"/>
              <a:cs typeface="Courier New"/>
              <a:sym typeface="Courier New"/>
            </a:endParaRPr>
          </a:p>
          <a:p>
            <a:pPr indent="0" lvl="0" marL="0" rtl="0" algn="l">
              <a:spcBef>
                <a:spcPts val="0"/>
              </a:spcBef>
              <a:spcAft>
                <a:spcPts val="0"/>
              </a:spcAft>
              <a:buNone/>
            </a:pPr>
            <a:r>
              <a:rPr i="1" lang="es" sz="1200">
                <a:solidFill>
                  <a:srgbClr val="408090"/>
                </a:solidFill>
                <a:latin typeface="Courier New"/>
                <a:ea typeface="Courier New"/>
                <a:cs typeface="Courier New"/>
                <a:sym typeface="Courier New"/>
              </a:rPr>
              <a:t># with blink_1hz, outputting on Pin(25)</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sm </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 rp2</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StateMachine(</a:t>
            </a:r>
            <a:endParaRPr sz="1200">
              <a:solidFill>
                <a:srgbClr val="404040"/>
              </a:solidFill>
              <a:latin typeface="Courier New"/>
              <a:ea typeface="Courier New"/>
              <a:cs typeface="Courier New"/>
              <a:sym typeface="Courier New"/>
            </a:endParaRPr>
          </a:p>
          <a:p>
            <a:pPr indent="0" lvl="0" marL="914400" rtl="0" algn="l">
              <a:spcBef>
                <a:spcPts val="0"/>
              </a:spcBef>
              <a:spcAft>
                <a:spcPts val="0"/>
              </a:spcAft>
              <a:buNone/>
            </a:pPr>
            <a:r>
              <a:rPr lang="es" sz="1200">
                <a:solidFill>
                  <a:srgbClr val="208050"/>
                </a:solidFill>
                <a:latin typeface="Courier New"/>
                <a:ea typeface="Courier New"/>
                <a:cs typeface="Courier New"/>
                <a:sym typeface="Courier New"/>
              </a:rPr>
              <a:t>0</a:t>
            </a:r>
            <a:r>
              <a:rPr lang="es" sz="1200">
                <a:solidFill>
                  <a:srgbClr val="404040"/>
                </a:solidFill>
                <a:latin typeface="Courier New"/>
                <a:ea typeface="Courier New"/>
                <a:cs typeface="Courier New"/>
                <a:sym typeface="Courier New"/>
              </a:rPr>
              <a:t>, </a:t>
            </a:r>
            <a:endParaRPr sz="1200">
              <a:solidFill>
                <a:srgbClr val="404040"/>
              </a:solidFill>
              <a:latin typeface="Courier New"/>
              <a:ea typeface="Courier New"/>
              <a:cs typeface="Courier New"/>
              <a:sym typeface="Courier New"/>
            </a:endParaRPr>
          </a:p>
          <a:p>
            <a:pPr indent="0" lvl="0" marL="914400" rtl="0" algn="l">
              <a:spcBef>
                <a:spcPts val="0"/>
              </a:spcBef>
              <a:spcAft>
                <a:spcPts val="0"/>
              </a:spcAft>
              <a:buNone/>
            </a:pPr>
            <a:r>
              <a:rPr lang="es" sz="1200">
                <a:solidFill>
                  <a:srgbClr val="404040"/>
                </a:solidFill>
                <a:latin typeface="Courier New"/>
                <a:ea typeface="Courier New"/>
                <a:cs typeface="Courier New"/>
                <a:sym typeface="Courier New"/>
              </a:rPr>
              <a:t>blink_1hz, </a:t>
            </a:r>
            <a:endParaRPr sz="1200">
              <a:solidFill>
                <a:srgbClr val="404040"/>
              </a:solidFill>
              <a:latin typeface="Courier New"/>
              <a:ea typeface="Courier New"/>
              <a:cs typeface="Courier New"/>
              <a:sym typeface="Courier New"/>
            </a:endParaRPr>
          </a:p>
          <a:p>
            <a:pPr indent="457200" lvl="0" marL="457200" rtl="0" algn="l">
              <a:spcBef>
                <a:spcPts val="0"/>
              </a:spcBef>
              <a:spcAft>
                <a:spcPts val="0"/>
              </a:spcAft>
              <a:buNone/>
            </a:pPr>
            <a:r>
              <a:rPr lang="es" sz="1200">
                <a:solidFill>
                  <a:srgbClr val="404040"/>
                </a:solidFill>
                <a:latin typeface="Courier New"/>
                <a:ea typeface="Courier New"/>
                <a:cs typeface="Courier New"/>
                <a:sym typeface="Courier New"/>
              </a:rPr>
              <a:t>freq</a:t>
            </a:r>
            <a:r>
              <a:rPr lang="es" sz="1200">
                <a:solidFill>
                  <a:srgbClr val="666666"/>
                </a:solidFill>
                <a:latin typeface="Courier New"/>
                <a:ea typeface="Courier New"/>
                <a:cs typeface="Courier New"/>
                <a:sym typeface="Courier New"/>
              </a:rPr>
              <a:t>=</a:t>
            </a:r>
            <a:r>
              <a:rPr lang="es" sz="1200">
                <a:solidFill>
                  <a:srgbClr val="208050"/>
                </a:solidFill>
                <a:latin typeface="Courier New"/>
                <a:ea typeface="Courier New"/>
                <a:cs typeface="Courier New"/>
                <a:sym typeface="Courier New"/>
              </a:rPr>
              <a:t>2300</a:t>
            </a:r>
            <a:r>
              <a:rPr lang="es" sz="1200">
                <a:solidFill>
                  <a:srgbClr val="404040"/>
                </a:solidFill>
                <a:latin typeface="Courier New"/>
                <a:ea typeface="Courier New"/>
                <a:cs typeface="Courier New"/>
                <a:sym typeface="Courier New"/>
              </a:rPr>
              <a:t>, </a:t>
            </a:r>
            <a:endParaRPr sz="1200">
              <a:solidFill>
                <a:srgbClr val="404040"/>
              </a:solidFill>
              <a:latin typeface="Courier New"/>
              <a:ea typeface="Courier New"/>
              <a:cs typeface="Courier New"/>
              <a:sym typeface="Courier New"/>
            </a:endParaRPr>
          </a:p>
          <a:p>
            <a:pPr indent="457200" lvl="0" marL="457200" rtl="0" algn="l">
              <a:spcBef>
                <a:spcPts val="0"/>
              </a:spcBef>
              <a:spcAft>
                <a:spcPts val="0"/>
              </a:spcAft>
              <a:buNone/>
            </a:pPr>
            <a:r>
              <a:rPr lang="es" sz="1200">
                <a:solidFill>
                  <a:srgbClr val="404040"/>
                </a:solidFill>
                <a:latin typeface="Courier New"/>
                <a:ea typeface="Courier New"/>
                <a:cs typeface="Courier New"/>
                <a:sym typeface="Courier New"/>
              </a:rPr>
              <a:t>set_base</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Pin(</a:t>
            </a:r>
            <a:r>
              <a:rPr lang="es" sz="1200">
                <a:solidFill>
                  <a:srgbClr val="208050"/>
                </a:solidFill>
                <a:latin typeface="Courier New"/>
                <a:ea typeface="Courier New"/>
                <a:cs typeface="Courier New"/>
                <a:sym typeface="Courier New"/>
              </a:rPr>
              <a:t>25</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457200" rtl="0" algn="l">
              <a:spcBef>
                <a:spcPts val="0"/>
              </a:spcBef>
              <a:spcAft>
                <a:spcPts val="0"/>
              </a:spcAft>
              <a:buNone/>
            </a:pP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marR="114300" rtl="0" algn="l">
              <a:lnSpc>
                <a:spcPct val="140000"/>
              </a:lnSpc>
              <a:spcBef>
                <a:spcPts val="0"/>
              </a:spcBef>
              <a:spcAft>
                <a:spcPts val="0"/>
              </a:spcAft>
              <a:buClr>
                <a:schemeClr val="dk1"/>
              </a:buClr>
              <a:buSzPts val="1100"/>
              <a:buFont typeface="Arial"/>
              <a:buNone/>
            </a:pPr>
            <a:r>
              <a:rPr lang="es" sz="1200">
                <a:solidFill>
                  <a:srgbClr val="404040"/>
                </a:solidFill>
                <a:latin typeface="Courier New"/>
                <a:ea typeface="Courier New"/>
                <a:cs typeface="Courier New"/>
                <a:sym typeface="Courier New"/>
              </a:rPr>
              <a:t>sm</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active(</a:t>
            </a:r>
            <a:r>
              <a:rPr lang="es" sz="1200">
                <a:solidFill>
                  <a:srgbClr val="208050"/>
                </a:solidFill>
                <a:latin typeface="Courier New"/>
                <a:ea typeface="Courier New"/>
                <a:cs typeface="Courier New"/>
                <a:sym typeface="Courier New"/>
              </a:rPr>
              <a:t>1</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t/>
            </a:r>
            <a:endParaRPr sz="2100"/>
          </a:p>
        </p:txBody>
      </p:sp>
      <p:sp>
        <p:nvSpPr>
          <p:cNvPr id="84" name="Google Shape;84;g395459f6e61_0_24"/>
          <p:cNvSpPr txBox="1"/>
          <p:nvPr>
            <p:ph idx="1" type="body"/>
          </p:nvPr>
        </p:nvSpPr>
        <p:spPr>
          <a:xfrm>
            <a:off x="4250700" y="1257475"/>
            <a:ext cx="45816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555555"/>
                </a:solidFill>
                <a:latin typeface="Courier New"/>
                <a:ea typeface="Courier New"/>
                <a:cs typeface="Courier New"/>
                <a:sym typeface="Courier New"/>
              </a:rPr>
              <a:t>@rp2</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asm_pio(set_init</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rp2</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PIO</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OUT_LOW)</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b="1" lang="es" sz="1200">
                <a:solidFill>
                  <a:srgbClr val="007020"/>
                </a:solidFill>
                <a:latin typeface="Courier New"/>
                <a:ea typeface="Courier New"/>
                <a:cs typeface="Courier New"/>
                <a:sym typeface="Courier New"/>
              </a:rPr>
              <a:t>def</a:t>
            </a:r>
            <a:r>
              <a:rPr lang="es" sz="1200">
                <a:solidFill>
                  <a:srgbClr val="BBBBBB"/>
                </a:solidFill>
                <a:latin typeface="Courier New"/>
                <a:ea typeface="Courier New"/>
                <a:cs typeface="Courier New"/>
                <a:sym typeface="Courier New"/>
              </a:rPr>
              <a:t> </a:t>
            </a:r>
            <a:r>
              <a:rPr lang="es" sz="1200">
                <a:solidFill>
                  <a:srgbClr val="06287E"/>
                </a:solidFill>
                <a:latin typeface="Courier New"/>
                <a:ea typeface="Courier New"/>
                <a:cs typeface="Courier New"/>
                <a:sym typeface="Courier New"/>
              </a:rPr>
              <a:t>blink_1hz</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a:t>
            </a:r>
            <a:r>
              <a:rPr i="1" lang="es" sz="1200">
                <a:solidFill>
                  <a:srgbClr val="408090"/>
                </a:solidFill>
                <a:latin typeface="Courier New"/>
                <a:ea typeface="Courier New"/>
                <a:cs typeface="Courier New"/>
                <a:sym typeface="Courier New"/>
              </a:rPr>
              <a:t># Cycles: 1 + 7 + 32 * (30 + 1) = 1000</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a:t>
            </a:r>
            <a:r>
              <a:rPr lang="es" sz="1200">
                <a:solidFill>
                  <a:srgbClr val="007020"/>
                </a:solidFill>
                <a:latin typeface="Courier New"/>
                <a:ea typeface="Courier New"/>
                <a:cs typeface="Courier New"/>
                <a:sym typeface="Courier New"/>
              </a:rPr>
              <a:t>set</a:t>
            </a:r>
            <a:r>
              <a:rPr lang="es" sz="1200">
                <a:solidFill>
                  <a:srgbClr val="404040"/>
                </a:solidFill>
                <a:latin typeface="Courier New"/>
                <a:ea typeface="Courier New"/>
                <a:cs typeface="Courier New"/>
                <a:sym typeface="Courier New"/>
              </a:rPr>
              <a:t>(pins, </a:t>
            </a:r>
            <a:r>
              <a:rPr lang="es" sz="1200">
                <a:solidFill>
                  <a:srgbClr val="208050"/>
                </a:solidFill>
                <a:latin typeface="Courier New"/>
                <a:ea typeface="Courier New"/>
                <a:cs typeface="Courier New"/>
                <a:sym typeface="Courier New"/>
              </a:rPr>
              <a:t>1</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a:t>
            </a:r>
            <a:r>
              <a:rPr lang="es" sz="1200">
                <a:solidFill>
                  <a:srgbClr val="007020"/>
                </a:solidFill>
                <a:latin typeface="Courier New"/>
                <a:ea typeface="Courier New"/>
                <a:cs typeface="Courier New"/>
                <a:sym typeface="Courier New"/>
              </a:rPr>
              <a:t>set</a:t>
            </a:r>
            <a:r>
              <a:rPr lang="es" sz="1200">
                <a:solidFill>
                  <a:srgbClr val="404040"/>
                </a:solidFill>
                <a:latin typeface="Courier New"/>
                <a:ea typeface="Courier New"/>
                <a:cs typeface="Courier New"/>
                <a:sym typeface="Courier New"/>
              </a:rPr>
              <a:t>(x, </a:t>
            </a:r>
            <a:r>
              <a:rPr lang="es" sz="1200">
                <a:solidFill>
                  <a:srgbClr val="208050"/>
                </a:solidFill>
                <a:latin typeface="Courier New"/>
                <a:ea typeface="Courier New"/>
                <a:cs typeface="Courier New"/>
                <a:sym typeface="Courier New"/>
              </a:rPr>
              <a:t>31</a:t>
            </a:r>
            <a:r>
              <a:rPr lang="es" sz="1200">
                <a:solidFill>
                  <a:srgbClr val="404040"/>
                </a:solidFill>
                <a:latin typeface="Courier New"/>
                <a:ea typeface="Courier New"/>
                <a:cs typeface="Courier New"/>
                <a:sym typeface="Courier New"/>
              </a:rPr>
              <a:t>)                  [</a:t>
            </a:r>
            <a:r>
              <a:rPr lang="es" sz="1200">
                <a:solidFill>
                  <a:srgbClr val="208050"/>
                </a:solidFill>
                <a:latin typeface="Courier New"/>
                <a:ea typeface="Courier New"/>
                <a:cs typeface="Courier New"/>
                <a:sym typeface="Courier New"/>
              </a:rPr>
              <a:t>6</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label(</a:t>
            </a:r>
            <a:r>
              <a:rPr lang="es" sz="1200">
                <a:solidFill>
                  <a:srgbClr val="4070A0"/>
                </a:solidFill>
                <a:latin typeface="Courier New"/>
                <a:ea typeface="Courier New"/>
                <a:cs typeface="Courier New"/>
                <a:sym typeface="Courier New"/>
              </a:rPr>
              <a:t>"delay_high"</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nop()                       [</a:t>
            </a:r>
            <a:r>
              <a:rPr lang="es" sz="1200">
                <a:solidFill>
                  <a:srgbClr val="208050"/>
                </a:solidFill>
                <a:latin typeface="Courier New"/>
                <a:ea typeface="Courier New"/>
                <a:cs typeface="Courier New"/>
                <a:sym typeface="Courier New"/>
              </a:rPr>
              <a:t>29</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jmp(x_dec, </a:t>
            </a:r>
            <a:r>
              <a:rPr lang="es" sz="1200">
                <a:solidFill>
                  <a:srgbClr val="4070A0"/>
                </a:solidFill>
                <a:latin typeface="Courier New"/>
                <a:ea typeface="Courier New"/>
                <a:cs typeface="Courier New"/>
                <a:sym typeface="Courier New"/>
              </a:rPr>
              <a:t>"delay_high"</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a:t>
            </a:r>
            <a:r>
              <a:rPr i="1" lang="es" sz="1200">
                <a:solidFill>
                  <a:srgbClr val="408090"/>
                </a:solidFill>
                <a:latin typeface="Courier New"/>
                <a:ea typeface="Courier New"/>
                <a:cs typeface="Courier New"/>
                <a:sym typeface="Courier New"/>
              </a:rPr>
              <a:t># Cycles: 1 + 7 + 32 * (30 + 1) = 1000</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a:t>
            </a:r>
            <a:r>
              <a:rPr lang="es" sz="1200">
                <a:solidFill>
                  <a:srgbClr val="007020"/>
                </a:solidFill>
                <a:latin typeface="Courier New"/>
                <a:ea typeface="Courier New"/>
                <a:cs typeface="Courier New"/>
                <a:sym typeface="Courier New"/>
              </a:rPr>
              <a:t>set</a:t>
            </a:r>
            <a:r>
              <a:rPr lang="es" sz="1200">
                <a:solidFill>
                  <a:srgbClr val="404040"/>
                </a:solidFill>
                <a:latin typeface="Courier New"/>
                <a:ea typeface="Courier New"/>
                <a:cs typeface="Courier New"/>
                <a:sym typeface="Courier New"/>
              </a:rPr>
              <a:t>(pins, </a:t>
            </a:r>
            <a:r>
              <a:rPr lang="es" sz="1200">
                <a:solidFill>
                  <a:srgbClr val="208050"/>
                </a:solidFill>
                <a:latin typeface="Courier New"/>
                <a:ea typeface="Courier New"/>
                <a:cs typeface="Courier New"/>
                <a:sym typeface="Courier New"/>
              </a:rPr>
              <a:t>0</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a:t>
            </a:r>
            <a:r>
              <a:rPr lang="es" sz="1200">
                <a:solidFill>
                  <a:srgbClr val="007020"/>
                </a:solidFill>
                <a:latin typeface="Courier New"/>
                <a:ea typeface="Courier New"/>
                <a:cs typeface="Courier New"/>
                <a:sym typeface="Courier New"/>
              </a:rPr>
              <a:t>set</a:t>
            </a:r>
            <a:r>
              <a:rPr lang="es" sz="1200">
                <a:solidFill>
                  <a:srgbClr val="404040"/>
                </a:solidFill>
                <a:latin typeface="Courier New"/>
                <a:ea typeface="Courier New"/>
                <a:cs typeface="Courier New"/>
                <a:sym typeface="Courier New"/>
              </a:rPr>
              <a:t>(x, </a:t>
            </a:r>
            <a:r>
              <a:rPr lang="es" sz="1200">
                <a:solidFill>
                  <a:srgbClr val="208050"/>
                </a:solidFill>
                <a:latin typeface="Courier New"/>
                <a:ea typeface="Courier New"/>
                <a:cs typeface="Courier New"/>
                <a:sym typeface="Courier New"/>
              </a:rPr>
              <a:t>31</a:t>
            </a:r>
            <a:r>
              <a:rPr lang="es" sz="1200">
                <a:solidFill>
                  <a:srgbClr val="404040"/>
                </a:solidFill>
                <a:latin typeface="Courier New"/>
                <a:ea typeface="Courier New"/>
                <a:cs typeface="Courier New"/>
                <a:sym typeface="Courier New"/>
              </a:rPr>
              <a:t>)                  [</a:t>
            </a:r>
            <a:r>
              <a:rPr lang="es" sz="1200">
                <a:solidFill>
                  <a:srgbClr val="208050"/>
                </a:solidFill>
                <a:latin typeface="Courier New"/>
                <a:ea typeface="Courier New"/>
                <a:cs typeface="Courier New"/>
                <a:sym typeface="Courier New"/>
              </a:rPr>
              <a:t>6</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label(</a:t>
            </a:r>
            <a:r>
              <a:rPr lang="es" sz="1200">
                <a:solidFill>
                  <a:srgbClr val="4070A0"/>
                </a:solidFill>
                <a:latin typeface="Courier New"/>
                <a:ea typeface="Courier New"/>
                <a:cs typeface="Courier New"/>
                <a:sym typeface="Courier New"/>
              </a:rPr>
              <a:t>"delay_low"</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nop()                       [</a:t>
            </a:r>
            <a:r>
              <a:rPr lang="es" sz="1200">
                <a:solidFill>
                  <a:srgbClr val="208050"/>
                </a:solidFill>
                <a:latin typeface="Courier New"/>
                <a:ea typeface="Courier New"/>
                <a:cs typeface="Courier New"/>
                <a:sym typeface="Courier New"/>
              </a:rPr>
              <a:t>29</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rPr lang="es" sz="1200">
                <a:solidFill>
                  <a:srgbClr val="404040"/>
                </a:solidFill>
                <a:latin typeface="Courier New"/>
                <a:ea typeface="Courier New"/>
                <a:cs typeface="Courier New"/>
                <a:sym typeface="Courier New"/>
              </a:rPr>
              <a:t>    jmp(x_dec, </a:t>
            </a:r>
            <a:r>
              <a:rPr lang="es" sz="1200">
                <a:solidFill>
                  <a:srgbClr val="4070A0"/>
                </a:solidFill>
                <a:latin typeface="Courier New"/>
                <a:ea typeface="Courier New"/>
                <a:cs typeface="Courier New"/>
                <a:sym typeface="Courier New"/>
              </a:rPr>
              <a:t>"delay_low"</a:t>
            </a:r>
            <a:r>
              <a:rPr lang="es" sz="1200">
                <a:solidFill>
                  <a:srgbClr val="404040"/>
                </a:solidFill>
                <a:latin typeface="Courier New"/>
                <a:ea typeface="Courier New"/>
                <a:cs typeface="Courier New"/>
                <a:sym typeface="Courier New"/>
              </a:rPr>
              <a:t>)</a:t>
            </a:r>
            <a:endParaRPr sz="1200">
              <a:solidFill>
                <a:srgbClr val="404040"/>
              </a:solidFill>
              <a:latin typeface="Courier New"/>
              <a:ea typeface="Courier New"/>
              <a:cs typeface="Courier New"/>
              <a:sym typeface="Courier New"/>
            </a:endParaRPr>
          </a:p>
          <a:p>
            <a:pPr indent="0" lvl="0" marL="0" rtl="0" algn="l">
              <a:spcBef>
                <a:spcPts val="0"/>
              </a:spcBef>
              <a:spcAft>
                <a:spcPts val="0"/>
              </a:spcAft>
              <a:buNone/>
            </a:pPr>
            <a:r>
              <a:t/>
            </a:r>
            <a:endParaRPr sz="1400"/>
          </a:p>
        </p:txBody>
      </p:sp>
      <p:cxnSp>
        <p:nvCxnSpPr>
          <p:cNvPr id="85" name="Google Shape;85;g395459f6e61_0_24"/>
          <p:cNvCxnSpPr/>
          <p:nvPr/>
        </p:nvCxnSpPr>
        <p:spPr>
          <a:xfrm>
            <a:off x="3791250" y="2318125"/>
            <a:ext cx="367500" cy="12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91" name="Google Shape;91;p5"/>
          <p:cNvSpPr txBox="1"/>
          <p:nvPr>
            <p:ph idx="1" type="body"/>
          </p:nvPr>
        </p:nvSpPr>
        <p:spPr>
          <a:xfrm>
            <a:off x="311700" y="10913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sz="1550"/>
              <a:t>nop()</a:t>
            </a:r>
            <a:endParaRPr sz="1550"/>
          </a:p>
          <a:p>
            <a:pPr indent="0" lvl="0" marL="228600" rtl="0" algn="l">
              <a:lnSpc>
                <a:spcPct val="150000"/>
              </a:lnSpc>
              <a:spcBef>
                <a:spcPts val="2700"/>
              </a:spcBef>
              <a:spcAft>
                <a:spcPts val="0"/>
              </a:spcAft>
              <a:buSzPts val="1800"/>
              <a:buNone/>
            </a:pPr>
            <a:r>
              <a:rPr lang="es" sz="1550"/>
              <a:t>This is a pseudoinstruction that assembles to mov(y, y) and has no effect.</a:t>
            </a:r>
            <a:endParaRPr sz="1550"/>
          </a:p>
          <a:p>
            <a:pPr indent="0" lvl="0" marL="0" rtl="0" algn="l">
              <a:lnSpc>
                <a:spcPct val="115000"/>
              </a:lnSpc>
              <a:spcBef>
                <a:spcPts val="2700"/>
              </a:spcBef>
              <a:spcAft>
                <a:spcPts val="1200"/>
              </a:spcAft>
              <a:buSzPts val="1800"/>
              <a:buNone/>
            </a:pPr>
            <a:r>
              <a:t/>
            </a:r>
            <a:endParaRPr sz="15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6"/>
          <p:cNvSpPr txBox="1"/>
          <p:nvPr>
            <p:ph type="title"/>
          </p:nvPr>
        </p:nvSpPr>
        <p:spPr>
          <a:xfrm>
            <a:off x="4170500" y="-65825"/>
            <a:ext cx="4661700" cy="572700"/>
          </a:xfrm>
          <a:prstGeom prst="rect">
            <a:avLst/>
          </a:prstGeom>
          <a:noFill/>
          <a:ln>
            <a:noFill/>
          </a:ln>
        </p:spPr>
        <p:txBody>
          <a:bodyPr anchorCtr="0" anchor="t" bIns="91425" lIns="91425" spcFirstLastPara="1" rIns="91425" wrap="square" tIns="91425">
            <a:normAutofit fontScale="90000"/>
          </a:bodyPr>
          <a:lstStyle/>
          <a:p>
            <a:pPr indent="0" lvl="0" marL="0" rtl="0" algn="r">
              <a:lnSpc>
                <a:spcPct val="100000"/>
              </a:lnSpc>
              <a:spcBef>
                <a:spcPts val="0"/>
              </a:spcBef>
              <a:spcAft>
                <a:spcPts val="0"/>
              </a:spcAft>
              <a:buSzPct val="111111"/>
              <a:buNone/>
            </a:pPr>
            <a:r>
              <a:t/>
            </a:r>
            <a:endParaRPr/>
          </a:p>
        </p:txBody>
      </p:sp>
      <p:sp>
        <p:nvSpPr>
          <p:cNvPr id="97" name="Google Shape;97;p6"/>
          <p:cNvSpPr txBox="1"/>
          <p:nvPr>
            <p:ph idx="1" type="body"/>
          </p:nvPr>
        </p:nvSpPr>
        <p:spPr>
          <a:xfrm>
            <a:off x="255425" y="0"/>
            <a:ext cx="8520600" cy="47058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lang="es" sz="1555"/>
              <a:t>.side(value)</a:t>
            </a:r>
            <a:endParaRPr sz="1555"/>
          </a:p>
          <a:p>
            <a:pPr indent="0" lvl="0" marL="0" rtl="0" algn="l">
              <a:lnSpc>
                <a:spcPct val="95000"/>
              </a:lnSpc>
              <a:spcBef>
                <a:spcPts val="1200"/>
              </a:spcBef>
              <a:spcAft>
                <a:spcPts val="0"/>
              </a:spcAft>
              <a:buSzPts val="523"/>
              <a:buNone/>
            </a:pPr>
            <a:r>
              <a:rPr lang="es" sz="1555"/>
              <a:t>This is a modifier which can be applied to any instruction, and is used to control side-set pin values.</a:t>
            </a:r>
            <a:endParaRPr sz="1555"/>
          </a:p>
          <a:p>
            <a:pPr indent="-327342" lvl="0" marL="457200" rtl="0" algn="l">
              <a:lnSpc>
                <a:spcPct val="95000"/>
              </a:lnSpc>
              <a:spcBef>
                <a:spcPts val="1200"/>
              </a:spcBef>
              <a:spcAft>
                <a:spcPts val="0"/>
              </a:spcAft>
              <a:buSzPts val="1555"/>
              <a:buChar char="●"/>
            </a:pPr>
            <a:r>
              <a:rPr lang="es" sz="1555"/>
              <a:t> value: the value (bits) to output on the side-set pins</a:t>
            </a:r>
            <a:endParaRPr sz="1555"/>
          </a:p>
          <a:p>
            <a:pPr indent="457200" lvl="0" marL="0" rtl="0" algn="l">
              <a:lnSpc>
                <a:spcPct val="95000"/>
              </a:lnSpc>
              <a:spcBef>
                <a:spcPts val="1200"/>
              </a:spcBef>
              <a:spcAft>
                <a:spcPts val="0"/>
              </a:spcAft>
              <a:buSzPts val="523"/>
              <a:buNone/>
            </a:pPr>
            <a:r>
              <a:rPr lang="es" sz="1555"/>
              <a:t>nop().side(1)</a:t>
            </a:r>
            <a:endParaRPr sz="1555"/>
          </a:p>
          <a:p>
            <a:pPr indent="0" lvl="0" marL="0" rtl="0" algn="l">
              <a:lnSpc>
                <a:spcPct val="95000"/>
              </a:lnSpc>
              <a:spcBef>
                <a:spcPts val="1200"/>
              </a:spcBef>
              <a:spcAft>
                <a:spcPts val="0"/>
              </a:spcAft>
              <a:buSzPts val="523"/>
              <a:buNone/>
            </a:pPr>
            <a:r>
              <a:t/>
            </a:r>
            <a:endParaRPr sz="1555"/>
          </a:p>
          <a:p>
            <a:pPr indent="0" lvl="0" marL="0" rtl="0" algn="l">
              <a:lnSpc>
                <a:spcPct val="95000"/>
              </a:lnSpc>
              <a:spcBef>
                <a:spcPts val="1200"/>
              </a:spcBef>
              <a:spcAft>
                <a:spcPts val="0"/>
              </a:spcAft>
              <a:buSzPts val="523"/>
              <a:buNone/>
            </a:pPr>
            <a:r>
              <a:rPr lang="es" sz="1555"/>
              <a:t>.delay(value)        </a:t>
            </a:r>
            <a:endParaRPr sz="1555"/>
          </a:p>
          <a:p>
            <a:pPr indent="0" lvl="0" marL="0" rtl="0" algn="l">
              <a:lnSpc>
                <a:spcPct val="95000"/>
              </a:lnSpc>
              <a:spcBef>
                <a:spcPts val="1200"/>
              </a:spcBef>
              <a:spcAft>
                <a:spcPts val="0"/>
              </a:spcAft>
              <a:buSzPts val="523"/>
              <a:buNone/>
            </a:pPr>
            <a:r>
              <a:rPr lang="es" sz="1555"/>
              <a:t>         [value]</a:t>
            </a:r>
            <a:endParaRPr sz="1555"/>
          </a:p>
          <a:p>
            <a:pPr indent="0" lvl="0" marL="0" rtl="0" algn="l">
              <a:lnSpc>
                <a:spcPct val="95000"/>
              </a:lnSpc>
              <a:spcBef>
                <a:spcPts val="1200"/>
              </a:spcBef>
              <a:spcAft>
                <a:spcPts val="0"/>
              </a:spcAft>
              <a:buSzPts val="523"/>
              <a:buNone/>
            </a:pPr>
            <a:r>
              <a:rPr lang="es" sz="1555"/>
              <a:t>This is a modifier which can be applied to any instruction, and specifies how many cycles to delay for after the instruction executes.</a:t>
            </a:r>
            <a:endParaRPr sz="1555"/>
          </a:p>
          <a:p>
            <a:pPr indent="-327342" lvl="0" marL="457200" rtl="0" algn="l">
              <a:lnSpc>
                <a:spcPct val="95000"/>
              </a:lnSpc>
              <a:spcBef>
                <a:spcPts val="1200"/>
              </a:spcBef>
              <a:spcAft>
                <a:spcPts val="0"/>
              </a:spcAft>
              <a:buSzPts val="1555"/>
              <a:buChar char="●"/>
            </a:pPr>
            <a:r>
              <a:rPr lang="es" sz="1555"/>
              <a:t>value: cycles to delay, 0-31 (maximum value reduced if side-set pins are used)</a:t>
            </a:r>
            <a:endParaRPr sz="1555"/>
          </a:p>
          <a:p>
            <a:pPr indent="457200" lvl="0" marL="0" rtl="0" algn="l">
              <a:lnSpc>
                <a:spcPct val="95000"/>
              </a:lnSpc>
              <a:spcBef>
                <a:spcPts val="1200"/>
              </a:spcBef>
              <a:spcAft>
                <a:spcPts val="0"/>
              </a:spcAft>
              <a:buSzPts val="523"/>
              <a:buNone/>
            </a:pPr>
            <a:r>
              <a:rPr lang="es" sz="1555"/>
              <a:t>nop()  [31]</a:t>
            </a:r>
            <a:endParaRPr sz="1555"/>
          </a:p>
          <a:p>
            <a:pPr indent="457200" lvl="0" marL="0" rtl="0" algn="l">
              <a:lnSpc>
                <a:spcPct val="95000"/>
              </a:lnSpc>
              <a:spcBef>
                <a:spcPts val="1200"/>
              </a:spcBef>
              <a:spcAft>
                <a:spcPts val="1200"/>
              </a:spcAft>
              <a:buSzPts val="523"/>
              <a:buNone/>
            </a:pPr>
            <a:r>
              <a:rPr lang="es" sz="1555"/>
              <a:t>nop().delay(31)</a:t>
            </a:r>
            <a:endParaRPr sz="1555"/>
          </a:p>
        </p:txBody>
      </p:sp>
      <p:sp>
        <p:nvSpPr>
          <p:cNvPr id="98" name="Google Shape;98;p6"/>
          <p:cNvSpPr txBox="1"/>
          <p:nvPr/>
        </p:nvSpPr>
        <p:spPr>
          <a:xfrm>
            <a:off x="3991500" y="4159775"/>
            <a:ext cx="4840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bits(Delay) + bits(side-set) = 5</a:t>
            </a:r>
            <a:endParaRPr sz="1800">
              <a:solidFill>
                <a:schemeClr val="dk2"/>
              </a:solidFill>
            </a:endParaRPr>
          </a:p>
          <a:p>
            <a:pPr indent="0" lvl="0" marL="0" rtl="0" algn="l">
              <a:spcBef>
                <a:spcPts val="0"/>
              </a:spcBef>
              <a:spcAft>
                <a:spcPts val="0"/>
              </a:spcAft>
              <a:buNone/>
            </a:pPr>
            <a:r>
              <a:rPr lang="es" sz="1800">
                <a:solidFill>
                  <a:schemeClr val="dk2"/>
                </a:solidFill>
              </a:rPr>
              <a:t>sideset_count=bits(side-set)</a:t>
            </a:r>
            <a:endParaRPr/>
          </a:p>
        </p:txBody>
      </p:sp>
      <p:pic>
        <p:nvPicPr>
          <p:cNvPr id="99" name="Google Shape;99;p6"/>
          <p:cNvPicPr preferRelativeResize="0"/>
          <p:nvPr/>
        </p:nvPicPr>
        <p:blipFill rotWithShape="1">
          <a:blip r:embed="rId3">
            <a:alphaModFix/>
          </a:blip>
          <a:srcRect b="0" l="0" r="0" t="0"/>
          <a:stretch/>
        </p:blipFill>
        <p:spPr>
          <a:xfrm>
            <a:off x="5923050" y="889475"/>
            <a:ext cx="2991950" cy="16190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5" name="Google Shape;105;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wrap_target()</a:t>
            </a:r>
            <a:endParaRPr/>
          </a:p>
          <a:p>
            <a:pPr indent="0" lvl="0" marL="0" rtl="0" algn="l">
              <a:lnSpc>
                <a:spcPct val="115000"/>
              </a:lnSpc>
              <a:spcBef>
                <a:spcPts val="1200"/>
              </a:spcBef>
              <a:spcAft>
                <a:spcPts val="0"/>
              </a:spcAft>
              <a:buSzPts val="1800"/>
              <a:buNone/>
            </a:pPr>
            <a:r>
              <a:rPr lang="es"/>
              <a:t>Specify the location where execution continues after program wrapping. By default this is the start of the PIO routine.</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wrap()</a:t>
            </a:r>
            <a:endParaRPr/>
          </a:p>
          <a:p>
            <a:pPr indent="0" lvl="0" marL="0" rtl="0" algn="l">
              <a:lnSpc>
                <a:spcPct val="115000"/>
              </a:lnSpc>
              <a:spcBef>
                <a:spcPts val="1200"/>
              </a:spcBef>
              <a:spcAft>
                <a:spcPts val="1200"/>
              </a:spcAft>
              <a:buSzPts val="1800"/>
              <a:buNone/>
            </a:pPr>
            <a:r>
              <a:rPr lang="es"/>
              <a:t>Specify the location where the program finishes and wraps around. If this directive is not used then it is added automatically at the end of the PIO routine. Wrapping does not cost any execution cycles.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8"/>
          <p:cNvPicPr preferRelativeResize="0"/>
          <p:nvPr/>
        </p:nvPicPr>
        <p:blipFill rotWithShape="1">
          <a:blip r:embed="rId3">
            <a:alphaModFix/>
          </a:blip>
          <a:srcRect b="0" l="0" r="0" t="0"/>
          <a:stretch/>
        </p:blipFill>
        <p:spPr>
          <a:xfrm>
            <a:off x="5689875" y="2287925"/>
            <a:ext cx="3051175" cy="1651150"/>
          </a:xfrm>
          <a:prstGeom prst="rect">
            <a:avLst/>
          </a:prstGeom>
          <a:noFill/>
          <a:ln>
            <a:noFill/>
          </a:ln>
        </p:spPr>
      </p:pic>
      <p:sp>
        <p:nvSpPr>
          <p:cNvPr id="111" name="Google Shape;111;p8"/>
          <p:cNvSpPr txBox="1"/>
          <p:nvPr>
            <p:ph type="title"/>
          </p:nvPr>
        </p:nvSpPr>
        <p:spPr>
          <a:xfrm>
            <a:off x="311700" y="-1949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5000"/>
              </a:lnSpc>
              <a:spcBef>
                <a:spcPts val="0"/>
              </a:spcBef>
              <a:spcAft>
                <a:spcPts val="1200"/>
              </a:spcAft>
              <a:buClr>
                <a:schemeClr val="dk1"/>
              </a:buClr>
              <a:buSzPts val="248"/>
              <a:buFont typeface="Arial"/>
              <a:buNone/>
            </a:pPr>
            <a:r>
              <a:t/>
            </a:r>
            <a:endParaRPr/>
          </a:p>
        </p:txBody>
      </p:sp>
      <p:sp>
        <p:nvSpPr>
          <p:cNvPr id="112" name="Google Shape;112;p8"/>
          <p:cNvSpPr txBox="1"/>
          <p:nvPr>
            <p:ph idx="1" type="body"/>
          </p:nvPr>
        </p:nvSpPr>
        <p:spPr>
          <a:xfrm>
            <a:off x="513175" y="655800"/>
            <a:ext cx="8520600" cy="3831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275"/>
              <a:buFont typeface="Arial"/>
              <a:buNone/>
            </a:pPr>
            <a:r>
              <a:rPr lang="es" sz="1550"/>
              <a:t>jmp(label),  jmp(cond, label)</a:t>
            </a:r>
            <a:endParaRPr sz="1550"/>
          </a:p>
          <a:p>
            <a:pPr indent="0" lvl="0" marL="457200" rtl="0" algn="l">
              <a:lnSpc>
                <a:spcPct val="95000"/>
              </a:lnSpc>
              <a:spcBef>
                <a:spcPts val="0"/>
              </a:spcBef>
              <a:spcAft>
                <a:spcPts val="0"/>
              </a:spcAft>
              <a:buSzPts val="275"/>
              <a:buNone/>
            </a:pPr>
            <a:r>
              <a:rPr lang="es" sz="1550"/>
              <a:t>cond: the condition to check, one of:</a:t>
            </a:r>
            <a:endParaRPr sz="1550"/>
          </a:p>
          <a:p>
            <a:pPr indent="-327025" lvl="0" marL="914400" rtl="0" algn="l">
              <a:lnSpc>
                <a:spcPct val="95000"/>
              </a:lnSpc>
              <a:spcBef>
                <a:spcPts val="0"/>
              </a:spcBef>
              <a:spcAft>
                <a:spcPts val="0"/>
              </a:spcAft>
              <a:buSzPts val="1550"/>
              <a:buChar char="●"/>
            </a:pPr>
            <a:r>
              <a:rPr lang="es" sz="1550"/>
              <a:t>not_x, not_y: true if register is zero</a:t>
            </a:r>
            <a:endParaRPr sz="1550"/>
          </a:p>
          <a:p>
            <a:pPr indent="-327025" lvl="0" marL="914400" rtl="0" algn="l">
              <a:lnSpc>
                <a:spcPct val="95000"/>
              </a:lnSpc>
              <a:spcBef>
                <a:spcPts val="0"/>
              </a:spcBef>
              <a:spcAft>
                <a:spcPts val="0"/>
              </a:spcAft>
              <a:buSzPts val="1550"/>
              <a:buChar char="●"/>
            </a:pPr>
            <a:r>
              <a:rPr lang="es" sz="1550"/>
              <a:t>x_dec, y_dec: true if register is non-zero, and do post decrement</a:t>
            </a:r>
            <a:endParaRPr sz="1550"/>
          </a:p>
          <a:p>
            <a:pPr indent="-327025" lvl="0" marL="914400" rtl="0" algn="l">
              <a:lnSpc>
                <a:spcPct val="95000"/>
              </a:lnSpc>
              <a:spcBef>
                <a:spcPts val="0"/>
              </a:spcBef>
              <a:spcAft>
                <a:spcPts val="0"/>
              </a:spcAft>
              <a:buSzPts val="1550"/>
              <a:buChar char="●"/>
            </a:pPr>
            <a:r>
              <a:rPr lang="es" sz="1550"/>
              <a:t>x_not_y: true if X is not equal to Y</a:t>
            </a:r>
            <a:endParaRPr sz="1550"/>
          </a:p>
          <a:p>
            <a:pPr indent="-327025" lvl="0" marL="914400" rtl="0" algn="l">
              <a:lnSpc>
                <a:spcPct val="95000"/>
              </a:lnSpc>
              <a:spcBef>
                <a:spcPts val="0"/>
              </a:spcBef>
              <a:spcAft>
                <a:spcPts val="0"/>
              </a:spcAft>
              <a:buSzPts val="1550"/>
              <a:buChar char="●"/>
            </a:pPr>
            <a:r>
              <a:rPr lang="es" sz="1550"/>
              <a:t>pin: true if the input pin is set  </a:t>
            </a:r>
            <a:endParaRPr sz="1550"/>
          </a:p>
          <a:p>
            <a:pPr indent="-327025" lvl="0" marL="914400" rtl="0" algn="l">
              <a:lnSpc>
                <a:spcPct val="95000"/>
              </a:lnSpc>
              <a:spcBef>
                <a:spcPts val="0"/>
              </a:spcBef>
              <a:spcAft>
                <a:spcPts val="0"/>
              </a:spcAft>
              <a:buSzPts val="1550"/>
              <a:buChar char="●"/>
            </a:pPr>
            <a:r>
              <a:rPr lang="es" sz="1550"/>
              <a:t>not_osre: true if OSR is not empty (hasn’t reached its threshold)</a:t>
            </a:r>
            <a:endParaRPr sz="1550"/>
          </a:p>
          <a:p>
            <a:pPr indent="0" lvl="0" marL="457200" rtl="0" algn="l">
              <a:lnSpc>
                <a:spcPct val="95000"/>
              </a:lnSpc>
              <a:spcBef>
                <a:spcPts val="0"/>
              </a:spcBef>
              <a:spcAft>
                <a:spcPts val="0"/>
              </a:spcAft>
              <a:buSzPts val="275"/>
              <a:buNone/>
            </a:pPr>
            <a:r>
              <a:rPr lang="es" sz="1550"/>
              <a:t>label: label to jump to if condition is true</a:t>
            </a:r>
            <a:endParaRPr sz="1550"/>
          </a:p>
          <a:p>
            <a:pPr indent="0" lvl="0" marL="457200" rtl="0" algn="l">
              <a:lnSpc>
                <a:spcPct val="95000"/>
              </a:lnSpc>
              <a:spcBef>
                <a:spcPts val="0"/>
              </a:spcBef>
              <a:spcAft>
                <a:spcPts val="0"/>
              </a:spcAft>
              <a:buSzPts val="275"/>
              <a:buNone/>
            </a:pPr>
            <a:r>
              <a:t/>
            </a:r>
            <a:endParaRPr sz="1550"/>
          </a:p>
          <a:p>
            <a:pPr indent="0" lvl="0" marL="0" rtl="0" algn="l">
              <a:lnSpc>
                <a:spcPct val="95000"/>
              </a:lnSpc>
              <a:spcBef>
                <a:spcPts val="0"/>
              </a:spcBef>
              <a:spcAft>
                <a:spcPts val="0"/>
              </a:spcAft>
              <a:buSzPts val="275"/>
              <a:buNone/>
            </a:pPr>
            <a:r>
              <a:rPr lang="es" sz="1550"/>
              <a:t>	pin is defined</a:t>
            </a:r>
            <a:r>
              <a:rPr lang="es" sz="1550"/>
              <a:t> by jmp_pin  </a:t>
            </a:r>
            <a:r>
              <a:rPr lang="es" sz="1550"/>
              <a:t>(</a:t>
            </a:r>
            <a:r>
              <a:rPr lang="es" sz="1200">
                <a:solidFill>
                  <a:srgbClr val="404040"/>
                </a:solidFill>
                <a:latin typeface="Courier New"/>
                <a:ea typeface="Courier New"/>
                <a:cs typeface="Courier New"/>
                <a:sym typeface="Courier New"/>
              </a:rPr>
              <a:t>rp2</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StateMachine</a:t>
            </a:r>
            <a:r>
              <a:rPr lang="es" sz="1550"/>
              <a:t>)</a:t>
            </a:r>
            <a:endParaRPr sz="1550"/>
          </a:p>
          <a:p>
            <a:pPr indent="0" lvl="0" marL="0" rtl="0" algn="l">
              <a:lnSpc>
                <a:spcPct val="95000"/>
              </a:lnSpc>
              <a:spcBef>
                <a:spcPts val="0"/>
              </a:spcBef>
              <a:spcAft>
                <a:spcPts val="0"/>
              </a:spcAft>
              <a:buSzPts val="275"/>
              <a:buNone/>
            </a:pPr>
            <a:r>
              <a:t/>
            </a:r>
            <a:endParaRPr sz="1550"/>
          </a:p>
          <a:p>
            <a:pPr indent="0" lvl="0" marL="0" rtl="0" algn="l">
              <a:lnSpc>
                <a:spcPct val="95000"/>
              </a:lnSpc>
              <a:spcBef>
                <a:spcPts val="0"/>
              </a:spcBef>
              <a:spcAft>
                <a:spcPts val="0"/>
              </a:spcAft>
              <a:buSzPts val="275"/>
              <a:buNone/>
            </a:pPr>
            <a:r>
              <a:t/>
            </a:r>
            <a:endParaRPr sz="1550"/>
          </a:p>
          <a:p>
            <a:pPr indent="0" lvl="0" marL="0" rtl="0" algn="l">
              <a:lnSpc>
                <a:spcPct val="95000"/>
              </a:lnSpc>
              <a:spcBef>
                <a:spcPts val="0"/>
              </a:spcBef>
              <a:spcAft>
                <a:spcPts val="0"/>
              </a:spcAft>
              <a:buSzPts val="275"/>
              <a:buNone/>
            </a:pPr>
            <a:r>
              <a:t/>
            </a:r>
            <a:endParaRPr sz="1550"/>
          </a:p>
          <a:p>
            <a:pPr indent="0" lvl="0" marL="0" rtl="0" algn="l">
              <a:lnSpc>
                <a:spcPct val="95000"/>
              </a:lnSpc>
              <a:spcBef>
                <a:spcPts val="0"/>
              </a:spcBef>
              <a:spcAft>
                <a:spcPts val="0"/>
              </a:spcAft>
              <a:buSzPts val="275"/>
              <a:buNone/>
            </a:pPr>
            <a:r>
              <a:t/>
            </a:r>
            <a:endParaRPr sz="1550"/>
          </a:p>
          <a:p>
            <a:pPr indent="0" lvl="0" marL="0" rtl="0" algn="l">
              <a:spcBef>
                <a:spcPts val="0"/>
              </a:spcBef>
              <a:spcAft>
                <a:spcPts val="0"/>
              </a:spcAft>
              <a:buSzPts val="1946"/>
              <a:buNone/>
            </a:pPr>
            <a:r>
              <a:rPr lang="es" sz="1550"/>
              <a:t>label(label)</a:t>
            </a:r>
            <a:endParaRPr sz="1550"/>
          </a:p>
          <a:p>
            <a:pPr indent="0" lvl="0" marL="228600" rtl="0" algn="l">
              <a:lnSpc>
                <a:spcPct val="150000"/>
              </a:lnSpc>
              <a:spcBef>
                <a:spcPts val="0"/>
              </a:spcBef>
              <a:spcAft>
                <a:spcPts val="0"/>
              </a:spcAft>
              <a:buSzPts val="1100"/>
              <a:buNone/>
            </a:pPr>
            <a:r>
              <a:rPr lang="es" sz="1550"/>
              <a:t>Define a label called label at the current location. label can be a string or integer.</a:t>
            </a:r>
            <a:endParaRPr sz="155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95459f6e61_0_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118" name="Google Shape;118;g395459f6e61_0_3"/>
          <p:cNvPicPr preferRelativeResize="0"/>
          <p:nvPr/>
        </p:nvPicPr>
        <p:blipFill rotWithShape="1">
          <a:blip r:embed="rId3">
            <a:alphaModFix/>
          </a:blip>
          <a:srcRect b="0" l="0" r="0" t="0"/>
          <a:stretch/>
        </p:blipFill>
        <p:spPr>
          <a:xfrm>
            <a:off x="1757950" y="1766475"/>
            <a:ext cx="5806000" cy="3141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10"/>
          <p:cNvPicPr preferRelativeResize="0"/>
          <p:nvPr/>
        </p:nvPicPr>
        <p:blipFill rotWithShape="1">
          <a:blip r:embed="rId3">
            <a:alphaModFix/>
          </a:blip>
          <a:srcRect b="0" l="0" r="0" t="0"/>
          <a:stretch/>
        </p:blipFill>
        <p:spPr>
          <a:xfrm>
            <a:off x="4201375" y="1017723"/>
            <a:ext cx="4791300" cy="2592800"/>
          </a:xfrm>
          <a:prstGeom prst="rect">
            <a:avLst/>
          </a:prstGeom>
          <a:noFill/>
          <a:ln>
            <a:noFill/>
          </a:ln>
        </p:spPr>
      </p:pic>
      <p:sp>
        <p:nvSpPr>
          <p:cNvPr id="124" name="Google Shape;124;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25" name="Google Shape;125;p10"/>
          <p:cNvSpPr txBox="1"/>
          <p:nvPr>
            <p:ph idx="1" type="body"/>
          </p:nvPr>
        </p:nvSpPr>
        <p:spPr>
          <a:xfrm>
            <a:off x="623400" y="1017725"/>
            <a:ext cx="51195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set(dest, data)</a:t>
            </a:r>
            <a:endParaRPr/>
          </a:p>
          <a:p>
            <a:pPr indent="0" lvl="0" marL="0" rtl="0" algn="l">
              <a:lnSpc>
                <a:spcPct val="115000"/>
              </a:lnSpc>
              <a:spcBef>
                <a:spcPts val="1200"/>
              </a:spcBef>
              <a:spcAft>
                <a:spcPts val="0"/>
              </a:spcAft>
              <a:buSzPts val="1800"/>
              <a:buNone/>
            </a:pPr>
            <a:r>
              <a:rPr lang="es"/>
              <a:t>Set dest with the value data.</a:t>
            </a:r>
            <a:endParaRPr/>
          </a:p>
          <a:p>
            <a:pPr indent="0" lvl="0" marL="457200" rtl="0" algn="l">
              <a:lnSpc>
                <a:spcPct val="115000"/>
              </a:lnSpc>
              <a:spcBef>
                <a:spcPts val="1200"/>
              </a:spcBef>
              <a:spcAft>
                <a:spcPts val="0"/>
              </a:spcAft>
              <a:buSzPts val="1800"/>
              <a:buNone/>
            </a:pPr>
            <a:r>
              <a:rPr lang="es"/>
              <a:t>dest: pins, x, y, pindirs</a:t>
            </a:r>
            <a:endParaRPr/>
          </a:p>
          <a:p>
            <a:pPr indent="0" lvl="0" marL="457200" rtl="0" algn="l">
              <a:lnSpc>
                <a:spcPct val="115000"/>
              </a:lnSpc>
              <a:spcBef>
                <a:spcPts val="1200"/>
              </a:spcBef>
              <a:spcAft>
                <a:spcPts val="0"/>
              </a:spcAft>
              <a:buSzPts val="1800"/>
              <a:buNone/>
            </a:pPr>
            <a:r>
              <a:rPr lang="es"/>
              <a:t>data: value (0-31)</a:t>
            </a:r>
            <a:endParaRPr/>
          </a:p>
          <a:p>
            <a:pPr indent="0" lvl="0" marL="0" rtl="0" algn="l">
              <a:lnSpc>
                <a:spcPct val="95000"/>
              </a:lnSpc>
              <a:spcBef>
                <a:spcPts val="1200"/>
              </a:spcBef>
              <a:spcAft>
                <a:spcPts val="0"/>
              </a:spcAft>
              <a:buClr>
                <a:schemeClr val="dk1"/>
              </a:buClr>
              <a:buSzPts val="275"/>
              <a:buFont typeface="Arial"/>
              <a:buNone/>
            </a:pPr>
            <a:r>
              <a:rPr lang="es" sz="1550"/>
              <a:t>pins are defined by set_base  (</a:t>
            </a:r>
            <a:r>
              <a:rPr lang="es" sz="1200">
                <a:solidFill>
                  <a:srgbClr val="404040"/>
                </a:solidFill>
                <a:latin typeface="Courier New"/>
                <a:ea typeface="Courier New"/>
                <a:cs typeface="Courier New"/>
                <a:sym typeface="Courier New"/>
              </a:rPr>
              <a:t>rp2</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StateMachine</a:t>
            </a:r>
            <a:r>
              <a:rPr lang="es" sz="1550"/>
              <a:t>)</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2700"/>
              </a:spcAft>
              <a:buClr>
                <a:schemeClr val="dk1"/>
              </a:buClr>
              <a:buSzPct val="39285"/>
              <a:buFont typeface="Arial"/>
              <a:buNone/>
            </a:pPr>
            <a:r>
              <a:t/>
            </a:r>
            <a:endParaRPr/>
          </a:p>
        </p:txBody>
      </p:sp>
      <p:sp>
        <p:nvSpPr>
          <p:cNvPr id="131" name="Google Shape;131;p11"/>
          <p:cNvSpPr txBox="1"/>
          <p:nvPr>
            <p:ph idx="1" type="body"/>
          </p:nvPr>
        </p:nvSpPr>
        <p:spPr>
          <a:xfrm>
            <a:off x="239775" y="2038200"/>
            <a:ext cx="8520600" cy="2904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70967"/>
              <a:buFont typeface="Arial"/>
              <a:buNone/>
            </a:pPr>
            <a:r>
              <a:rPr lang="es" sz="1550"/>
              <a:t>mov(dest, src)</a:t>
            </a:r>
            <a:endParaRPr sz="1550"/>
          </a:p>
          <a:p>
            <a:pPr indent="0" lvl="0" marL="0" marR="0" rtl="0" algn="l">
              <a:lnSpc>
                <a:spcPct val="95000"/>
              </a:lnSpc>
              <a:spcBef>
                <a:spcPts val="2700"/>
              </a:spcBef>
              <a:spcAft>
                <a:spcPts val="0"/>
              </a:spcAft>
              <a:buClr>
                <a:srgbClr val="000000"/>
              </a:buClr>
              <a:buSzPts val="254"/>
              <a:buFont typeface="Arial"/>
              <a:buNone/>
            </a:pPr>
            <a:r>
              <a:rPr lang="es" sz="1550"/>
              <a:t>Move into dest the value from src.</a:t>
            </a:r>
            <a:endParaRPr sz="1550"/>
          </a:p>
          <a:p>
            <a:pPr indent="-319643" lvl="0" marL="457200" marR="0" rtl="0" algn="l">
              <a:lnSpc>
                <a:spcPct val="95000"/>
              </a:lnSpc>
              <a:spcBef>
                <a:spcPts val="1200"/>
              </a:spcBef>
              <a:spcAft>
                <a:spcPts val="0"/>
              </a:spcAft>
              <a:buSzPct val="100000"/>
              <a:buChar char="●"/>
            </a:pPr>
            <a:r>
              <a:rPr lang="es" sz="1550"/>
              <a:t>dest: one of: pins, x, y, exec, pc, isr, osr</a:t>
            </a:r>
            <a:endParaRPr sz="1550"/>
          </a:p>
          <a:p>
            <a:pPr indent="-319643" lvl="0" marL="457200" marR="0" rtl="0" algn="l">
              <a:lnSpc>
                <a:spcPct val="95000"/>
              </a:lnSpc>
              <a:spcBef>
                <a:spcPts val="0"/>
              </a:spcBef>
              <a:spcAft>
                <a:spcPts val="0"/>
              </a:spcAft>
              <a:buSzPct val="100000"/>
              <a:buChar char="●"/>
            </a:pPr>
            <a:r>
              <a:rPr lang="es" sz="1550"/>
              <a:t>src: one of: pins, x, y, null, status, isr, osr; </a:t>
            </a:r>
            <a:endParaRPr sz="1550"/>
          </a:p>
          <a:p>
            <a:pPr indent="0" lvl="0" marL="0" marR="0" rtl="0" algn="l">
              <a:lnSpc>
                <a:spcPct val="95000"/>
              </a:lnSpc>
              <a:spcBef>
                <a:spcPts val="1200"/>
              </a:spcBef>
              <a:spcAft>
                <a:spcPts val="0"/>
              </a:spcAft>
              <a:buClr>
                <a:srgbClr val="000000"/>
              </a:buClr>
              <a:buSzPts val="254"/>
              <a:buFont typeface="Arial"/>
              <a:buNone/>
            </a:pPr>
            <a:r>
              <a:rPr lang="es" sz="1550"/>
              <a:t>this argument can be optionally modified by wrapping it in invert() or reverse() (but not both together)</a:t>
            </a:r>
            <a:endParaRPr sz="1550"/>
          </a:p>
          <a:p>
            <a:pPr indent="0" lvl="0" marL="0" marR="0" rtl="0" algn="l">
              <a:lnSpc>
                <a:spcPct val="95000"/>
              </a:lnSpc>
              <a:spcBef>
                <a:spcPts val="1200"/>
              </a:spcBef>
              <a:spcAft>
                <a:spcPts val="0"/>
              </a:spcAft>
              <a:buClr>
                <a:srgbClr val="000000"/>
              </a:buClr>
              <a:buSzPts val="254"/>
              <a:buFont typeface="Arial"/>
              <a:buNone/>
            </a:pPr>
            <a:r>
              <a:rPr lang="es" sz="1550"/>
              <a:t>mov(x, invert(0))</a:t>
            </a:r>
            <a:endParaRPr sz="1550"/>
          </a:p>
          <a:p>
            <a:pPr indent="0" lvl="0" marL="0" marR="0" rtl="0" algn="l">
              <a:lnSpc>
                <a:spcPct val="95000"/>
              </a:lnSpc>
              <a:spcBef>
                <a:spcPts val="1200"/>
              </a:spcBef>
              <a:spcAft>
                <a:spcPts val="0"/>
              </a:spcAft>
              <a:buClr>
                <a:srgbClr val="000000"/>
              </a:buClr>
              <a:buSzPts val="254"/>
              <a:buFont typeface="Arial"/>
              <a:buNone/>
            </a:pPr>
            <a:r>
              <a:t/>
            </a:r>
            <a:endParaRPr sz="1550"/>
          </a:p>
          <a:p>
            <a:pPr indent="0" lvl="0" marL="0" rtl="0" algn="l">
              <a:lnSpc>
                <a:spcPct val="95000"/>
              </a:lnSpc>
              <a:spcBef>
                <a:spcPts val="0"/>
              </a:spcBef>
              <a:spcAft>
                <a:spcPts val="0"/>
              </a:spcAft>
              <a:buClr>
                <a:schemeClr val="dk1"/>
              </a:buClr>
              <a:buSzPts val="254"/>
              <a:buFont typeface="Arial"/>
              <a:buNone/>
            </a:pPr>
            <a:r>
              <a:rPr lang="es" sz="1550"/>
              <a:t>dest_</a:t>
            </a:r>
            <a:r>
              <a:rPr lang="es" sz="1550"/>
              <a:t>pins are defined by out_base  (</a:t>
            </a:r>
            <a:r>
              <a:rPr lang="es" sz="1200">
                <a:solidFill>
                  <a:srgbClr val="404040"/>
                </a:solidFill>
                <a:latin typeface="Courier New"/>
                <a:ea typeface="Courier New"/>
                <a:cs typeface="Courier New"/>
                <a:sym typeface="Courier New"/>
              </a:rPr>
              <a:t>rp2</a:t>
            </a:r>
            <a:r>
              <a:rPr lang="es" sz="1200">
                <a:solidFill>
                  <a:srgbClr val="666666"/>
                </a:solidFill>
                <a:latin typeface="Courier New"/>
                <a:ea typeface="Courier New"/>
                <a:cs typeface="Courier New"/>
                <a:sym typeface="Courier New"/>
              </a:rPr>
              <a:t>.</a:t>
            </a:r>
            <a:r>
              <a:rPr lang="es" sz="1200">
                <a:solidFill>
                  <a:srgbClr val="404040"/>
                </a:solidFill>
                <a:latin typeface="Courier New"/>
                <a:ea typeface="Courier New"/>
                <a:cs typeface="Courier New"/>
                <a:sym typeface="Courier New"/>
              </a:rPr>
              <a:t>StateMachine</a:t>
            </a:r>
            <a:r>
              <a:rPr lang="es" sz="1550"/>
              <a:t>)</a:t>
            </a:r>
            <a:endParaRPr sz="1550"/>
          </a:p>
          <a:p>
            <a:pPr indent="0" lvl="0" marL="0" rtl="0" algn="l">
              <a:lnSpc>
                <a:spcPct val="95000"/>
              </a:lnSpc>
              <a:spcBef>
                <a:spcPts val="0"/>
              </a:spcBef>
              <a:spcAft>
                <a:spcPts val="0"/>
              </a:spcAft>
              <a:buClr>
                <a:schemeClr val="dk1"/>
              </a:buClr>
              <a:buSzPts val="254"/>
              <a:buFont typeface="Arial"/>
              <a:buNone/>
            </a:pPr>
            <a:r>
              <a:rPr lang="es" sz="1550"/>
              <a:t>src_pins do not need definition ()</a:t>
            </a:r>
            <a:endParaRPr sz="1550"/>
          </a:p>
        </p:txBody>
      </p:sp>
      <p:pic>
        <p:nvPicPr>
          <p:cNvPr id="132" name="Google Shape;132;p11"/>
          <p:cNvPicPr preferRelativeResize="0"/>
          <p:nvPr/>
        </p:nvPicPr>
        <p:blipFill rotWithShape="1">
          <a:blip r:embed="rId3">
            <a:alphaModFix/>
          </a:blip>
          <a:srcRect b="0" l="0" r="0" t="0"/>
          <a:stretch/>
        </p:blipFill>
        <p:spPr>
          <a:xfrm>
            <a:off x="5059575" y="156900"/>
            <a:ext cx="3916150" cy="2119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138" name="Google Shape;138;p12"/>
          <p:cNvPicPr preferRelativeResize="0"/>
          <p:nvPr/>
        </p:nvPicPr>
        <p:blipFill rotWithShape="1">
          <a:blip r:embed="rId3">
            <a:alphaModFix/>
          </a:blip>
          <a:srcRect b="0" l="0" r="0" t="0"/>
          <a:stretch/>
        </p:blipFill>
        <p:spPr>
          <a:xfrm>
            <a:off x="559125" y="2147600"/>
            <a:ext cx="8025750" cy="1001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144" name="Google Shape;144;p13"/>
          <p:cNvPicPr preferRelativeResize="0"/>
          <p:nvPr/>
        </p:nvPicPr>
        <p:blipFill rotWithShape="1">
          <a:blip r:embed="rId3">
            <a:alphaModFix/>
          </a:blip>
          <a:srcRect b="0" l="0" r="0" t="0"/>
          <a:stretch/>
        </p:blipFill>
        <p:spPr>
          <a:xfrm>
            <a:off x="427852" y="2101000"/>
            <a:ext cx="7239075" cy="1584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50" name="Google Shape;150;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in_(src, bit_count)</a:t>
            </a:r>
            <a:endParaRPr/>
          </a:p>
          <a:p>
            <a:pPr indent="0" lvl="0" marL="0" rtl="0" algn="l">
              <a:lnSpc>
                <a:spcPct val="115000"/>
              </a:lnSpc>
              <a:spcBef>
                <a:spcPts val="1200"/>
              </a:spcBef>
              <a:spcAft>
                <a:spcPts val="0"/>
              </a:spcAft>
              <a:buSzPts val="1800"/>
              <a:buNone/>
            </a:pPr>
            <a:r>
              <a:rPr lang="es"/>
              <a:t>Shift data in from src to ISR.</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src: one of: pins, x, y, null, isr, osr</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bit_count: number of bits to shift in (1-32)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56" name="Google Shape;156;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out(dest, bit_count)</a:t>
            </a:r>
            <a:endParaRPr/>
          </a:p>
          <a:p>
            <a:pPr indent="0" lvl="0" marL="0" rtl="0" algn="l">
              <a:lnSpc>
                <a:spcPct val="115000"/>
              </a:lnSpc>
              <a:spcBef>
                <a:spcPts val="1200"/>
              </a:spcBef>
              <a:spcAft>
                <a:spcPts val="0"/>
              </a:spcAft>
              <a:buSzPts val="1800"/>
              <a:buNone/>
            </a:pPr>
            <a:r>
              <a:rPr lang="es"/>
              <a:t>Shift data out from OSR to dest.</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dest: one of: pins, x, y, pindirs, pc, isr, exec</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bit_count: number of bits to shift out (1-32)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2" name="Google Shape;162;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s"/>
              <a:t>push(…)</a:t>
            </a:r>
            <a:endParaRPr/>
          </a:p>
          <a:p>
            <a:pPr indent="0" lvl="0" marL="0" marR="0" rtl="0" algn="l">
              <a:lnSpc>
                <a:spcPct val="115000"/>
              </a:lnSpc>
              <a:spcBef>
                <a:spcPts val="1200"/>
              </a:spcBef>
              <a:spcAft>
                <a:spcPts val="0"/>
              </a:spcAft>
              <a:buSzPts val="1800"/>
              <a:buNone/>
            </a:pPr>
            <a:r>
              <a:rPr lang="es"/>
              <a:t>Push ISR to the RX FIFO, then clear ISR to zero. This instruction takes the following forms:</a:t>
            </a:r>
            <a:endParaRPr/>
          </a:p>
          <a:p>
            <a:pPr indent="0" lvl="0" marL="0" marR="0" rtl="0" algn="l">
              <a:lnSpc>
                <a:spcPct val="115000"/>
              </a:lnSpc>
              <a:spcBef>
                <a:spcPts val="1200"/>
              </a:spcBef>
              <a:spcAft>
                <a:spcPts val="0"/>
              </a:spcAft>
              <a:buSzPts val="1800"/>
              <a:buNone/>
            </a:pPr>
            <a:r>
              <a:rPr lang="es"/>
              <a:t>push(), push(block), push(noblock)</a:t>
            </a:r>
            <a:endParaRPr/>
          </a:p>
          <a:p>
            <a:pPr indent="0" lvl="0" marL="0" marR="0" rtl="0" algn="l">
              <a:lnSpc>
                <a:spcPct val="115000"/>
              </a:lnSpc>
              <a:spcBef>
                <a:spcPts val="1200"/>
              </a:spcBef>
              <a:spcAft>
                <a:spcPts val="0"/>
              </a:spcAft>
              <a:buSzPts val="1800"/>
              <a:buNone/>
            </a:pPr>
            <a:r>
              <a:rPr lang="es"/>
              <a:t>push(iffull), push(iffull, block), push(iffull, noblock)</a:t>
            </a:r>
            <a:endParaRPr/>
          </a:p>
          <a:p>
            <a:pPr indent="0" lvl="0" marL="0" marR="0" rtl="0" algn="l">
              <a:lnSpc>
                <a:spcPct val="115000"/>
              </a:lnSpc>
              <a:spcBef>
                <a:spcPts val="1200"/>
              </a:spcBef>
              <a:spcAft>
                <a:spcPts val="1200"/>
              </a:spcAft>
              <a:buSzPts val="1800"/>
              <a:buNone/>
            </a:pPr>
            <a:r>
              <a:rPr lang="es"/>
              <a:t>If block is used then the instruction stalls if the RX FIFO is full. The default is to block. If iffull is used then it only pushes if the input shift count has reached its threshold.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8" name="Google Shape;168;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800"/>
              <a:buNone/>
            </a:pPr>
            <a:r>
              <a:rPr lang="es"/>
              <a:t>pull(…)</a:t>
            </a:r>
            <a:endParaRPr/>
          </a:p>
          <a:p>
            <a:pPr indent="0" lvl="0" marL="0" marR="0" rtl="0" algn="l">
              <a:lnSpc>
                <a:spcPct val="115000"/>
              </a:lnSpc>
              <a:spcBef>
                <a:spcPts val="1200"/>
              </a:spcBef>
              <a:spcAft>
                <a:spcPts val="0"/>
              </a:spcAft>
              <a:buSzPts val="1800"/>
              <a:buNone/>
            </a:pPr>
            <a:r>
              <a:rPr lang="es"/>
              <a:t>Pull from the TX FIFO into OSR. This instruction takes the following forms:</a:t>
            </a:r>
            <a:endParaRPr/>
          </a:p>
          <a:p>
            <a:pPr indent="0" lvl="0" marL="0" marR="0" rtl="0" algn="l">
              <a:lnSpc>
                <a:spcPct val="115000"/>
              </a:lnSpc>
              <a:spcBef>
                <a:spcPts val="1200"/>
              </a:spcBef>
              <a:spcAft>
                <a:spcPts val="0"/>
              </a:spcAft>
              <a:buSzPts val="1800"/>
              <a:buNone/>
            </a:pPr>
            <a:r>
              <a:rPr lang="es"/>
              <a:t>pull(), pull(block), pull(noblock)</a:t>
            </a:r>
            <a:endParaRPr/>
          </a:p>
          <a:p>
            <a:pPr indent="0" lvl="0" marL="0" marR="0" rtl="0" algn="l">
              <a:lnSpc>
                <a:spcPct val="115000"/>
              </a:lnSpc>
              <a:spcBef>
                <a:spcPts val="1200"/>
              </a:spcBef>
              <a:spcAft>
                <a:spcPts val="0"/>
              </a:spcAft>
              <a:buSzPts val="1800"/>
              <a:buNone/>
            </a:pPr>
            <a:r>
              <a:rPr lang="es"/>
              <a:t>pull(ifempty), pull(ifempty, block), pull(ifempty, noblock)</a:t>
            </a:r>
            <a:endParaRPr/>
          </a:p>
          <a:p>
            <a:pPr indent="0" lvl="0" marL="0" marR="0" rtl="0" algn="l">
              <a:lnSpc>
                <a:spcPct val="115000"/>
              </a:lnSpc>
              <a:spcBef>
                <a:spcPts val="1200"/>
              </a:spcBef>
              <a:spcAft>
                <a:spcPts val="1200"/>
              </a:spcAft>
              <a:buSzPts val="1800"/>
              <a:buNone/>
            </a:pPr>
            <a:r>
              <a:rPr lang="es"/>
              <a:t>If block is used then the instruction stalls if the TX FIFO is empty. The default is to block. If ifempty is used then it only pulls if the output shift count has reached its threshold.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type="title"/>
          </p:nvPr>
        </p:nvSpPr>
        <p:spPr>
          <a:xfrm>
            <a:off x="390025" y="-2990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74" name="Google Shape;174;p18"/>
          <p:cNvSpPr txBox="1"/>
          <p:nvPr>
            <p:ph idx="1" type="body"/>
          </p:nvPr>
        </p:nvSpPr>
        <p:spPr>
          <a:xfrm>
            <a:off x="311700" y="65275"/>
            <a:ext cx="8520600" cy="450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a:t>irq(…)</a:t>
            </a:r>
            <a:endParaRPr/>
          </a:p>
          <a:p>
            <a:pPr indent="0" lvl="0" marL="0" rtl="0" algn="l">
              <a:lnSpc>
                <a:spcPct val="115000"/>
              </a:lnSpc>
              <a:spcBef>
                <a:spcPts val="1200"/>
              </a:spcBef>
              <a:spcAft>
                <a:spcPts val="0"/>
              </a:spcAft>
              <a:buSzPts val="1800"/>
              <a:buNone/>
            </a:pPr>
            <a:r>
              <a:rPr lang="es"/>
              <a:t>Set or clear an IRQ flag. This instruction takes two forms:</a:t>
            </a:r>
            <a:endParaRPr/>
          </a:p>
          <a:p>
            <a:pPr indent="0" lvl="0" marL="0" rtl="0" algn="l">
              <a:lnSpc>
                <a:spcPct val="115000"/>
              </a:lnSpc>
              <a:spcBef>
                <a:spcPts val="1200"/>
              </a:spcBef>
              <a:spcAft>
                <a:spcPts val="0"/>
              </a:spcAft>
              <a:buSzPts val="1800"/>
              <a:buNone/>
            </a:pPr>
            <a:r>
              <a:rPr lang="es"/>
              <a:t>irq(index)</a:t>
            </a:r>
            <a:endParaRPr/>
          </a:p>
          <a:p>
            <a:pPr indent="0" lvl="0" marL="0" rtl="0" algn="l">
              <a:lnSpc>
                <a:spcPct val="115000"/>
              </a:lnSpc>
              <a:spcBef>
                <a:spcPts val="1200"/>
              </a:spcBef>
              <a:spcAft>
                <a:spcPts val="0"/>
              </a:spcAft>
              <a:buSzPts val="1800"/>
              <a:buNone/>
            </a:pPr>
            <a:r>
              <a:rPr lang="es"/>
              <a:t>index: 0-7, or rel(0) to rel(7)</a:t>
            </a:r>
            <a:endParaRPr/>
          </a:p>
          <a:p>
            <a:pPr indent="0" lvl="0" marL="0" rtl="0" algn="l">
              <a:lnSpc>
                <a:spcPct val="115000"/>
              </a:lnSpc>
              <a:spcBef>
                <a:spcPts val="1200"/>
              </a:spcBef>
              <a:spcAft>
                <a:spcPts val="0"/>
              </a:spcAft>
              <a:buSzPts val="1800"/>
              <a:buNone/>
            </a:pPr>
            <a:r>
              <a:rPr lang="es"/>
              <a:t>irq(mode, index)</a:t>
            </a:r>
            <a:endParaRPr/>
          </a:p>
          <a:p>
            <a:pPr indent="0" lvl="0" marL="0" rtl="0" algn="l">
              <a:lnSpc>
                <a:spcPct val="115000"/>
              </a:lnSpc>
              <a:spcBef>
                <a:spcPts val="1200"/>
              </a:spcBef>
              <a:spcAft>
                <a:spcPts val="0"/>
              </a:spcAft>
              <a:buSzPts val="1800"/>
              <a:buNone/>
            </a:pPr>
            <a:r>
              <a:rPr lang="es"/>
              <a:t>mode: one of: block, clear</a:t>
            </a:r>
            <a:endParaRPr/>
          </a:p>
          <a:p>
            <a:pPr indent="0" lvl="0" marL="0" rtl="0" algn="l">
              <a:lnSpc>
                <a:spcPct val="115000"/>
              </a:lnSpc>
              <a:spcBef>
                <a:spcPts val="1200"/>
              </a:spcBef>
              <a:spcAft>
                <a:spcPts val="0"/>
              </a:spcAft>
              <a:buSzPts val="1800"/>
              <a:buNone/>
            </a:pPr>
            <a:r>
              <a:rPr lang="es"/>
              <a:t>index: 0-7, or rel(0) to rel(7)</a:t>
            </a:r>
            <a:endParaRPr/>
          </a:p>
          <a:p>
            <a:pPr indent="0" lvl="0" marL="0" rtl="0" algn="l">
              <a:lnSpc>
                <a:spcPct val="115000"/>
              </a:lnSpc>
              <a:spcBef>
                <a:spcPts val="1200"/>
              </a:spcBef>
              <a:spcAft>
                <a:spcPts val="1200"/>
              </a:spcAft>
              <a:buSzPts val="1800"/>
              <a:buNone/>
            </a:pPr>
            <a:r>
              <a:rPr lang="es"/>
              <a:t>If block is used then the instruction stalls until the flag is cleared by another entity. If clear is used then the flag is cleared instead of being set. Relative IRQ indices add the state machine ID to the IRQ index with modulo-4 addition. IRQs 0-3 are visible from to the processor, 4-7 are internal to the state machines.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0" name="Google Shape;180;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s"/>
              <a:t>wait(polarity, src, index)</a:t>
            </a:r>
            <a:endParaRPr/>
          </a:p>
          <a:p>
            <a:pPr indent="0" lvl="0" marL="0" rtl="0" algn="l">
              <a:lnSpc>
                <a:spcPct val="115000"/>
              </a:lnSpc>
              <a:spcBef>
                <a:spcPts val="1200"/>
              </a:spcBef>
              <a:spcAft>
                <a:spcPts val="0"/>
              </a:spcAft>
              <a:buSzPts val="1800"/>
              <a:buNone/>
            </a:pPr>
            <a:r>
              <a:rPr lang="es"/>
              <a:t>Block, waiting for high/low on a pin or IRQ line.</a:t>
            </a:r>
            <a:endParaRPr/>
          </a:p>
          <a:p>
            <a:pPr indent="0" lvl="0" marL="0" rtl="0" algn="l">
              <a:lnSpc>
                <a:spcPct val="115000"/>
              </a:lnSpc>
              <a:spcBef>
                <a:spcPts val="1200"/>
              </a:spcBef>
              <a:spcAft>
                <a:spcPts val="0"/>
              </a:spcAft>
              <a:buSzPts val="1800"/>
              <a:buNone/>
            </a:pPr>
            <a:r>
              <a:rPr lang="es"/>
              <a:t>polarity: 0 or 1, whether to wait for a low or high value</a:t>
            </a:r>
            <a:endParaRPr/>
          </a:p>
          <a:p>
            <a:pPr indent="0" lvl="0" marL="0" rtl="0" algn="l">
              <a:lnSpc>
                <a:spcPct val="115000"/>
              </a:lnSpc>
              <a:spcBef>
                <a:spcPts val="1200"/>
              </a:spcBef>
              <a:spcAft>
                <a:spcPts val="0"/>
              </a:spcAft>
              <a:buSzPts val="1800"/>
              <a:buNone/>
            </a:pPr>
            <a:r>
              <a:rPr lang="es"/>
              <a:t>src: one of: gpio (absolute pin), pin (pin relative to StateMachine’s in_base argument), irq</a:t>
            </a:r>
            <a:endParaRPr/>
          </a:p>
          <a:p>
            <a:pPr indent="0" lvl="0" marL="0" rtl="0" algn="l">
              <a:lnSpc>
                <a:spcPct val="115000"/>
              </a:lnSpc>
              <a:spcBef>
                <a:spcPts val="1200"/>
              </a:spcBef>
              <a:spcAft>
                <a:spcPts val="1200"/>
              </a:spcAft>
              <a:buSzPts val="1800"/>
              <a:buNone/>
            </a:pPr>
            <a:r>
              <a:rPr lang="es"/>
              <a:t>index: 0-31, the index for src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6" name="Google Shape;186;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word(instr, label=None)</a:t>
            </a:r>
            <a:endParaRPr/>
          </a:p>
          <a:p>
            <a:pPr indent="0" lvl="0" marL="0" rtl="0" algn="l">
              <a:lnSpc>
                <a:spcPct val="115000"/>
              </a:lnSpc>
              <a:spcBef>
                <a:spcPts val="1200"/>
              </a:spcBef>
              <a:spcAft>
                <a:spcPts val="0"/>
              </a:spcAft>
              <a:buSzPts val="1800"/>
              <a:buNone/>
            </a:pPr>
            <a:r>
              <a:rPr lang="es"/>
              <a:t>Insert an arbitrary 16-bit word in the assembled output.</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instr: the 16-bit value</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label: if given, look up the label and logical-or the label’s value with instr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95459f6e61_0_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2" name="Google Shape;192;g395459f6e61_0_16"/>
          <p:cNvSpPr txBox="1"/>
          <p:nvPr>
            <p:ph idx="1" type="body"/>
          </p:nvPr>
        </p:nvSpPr>
        <p:spPr>
          <a:xfrm>
            <a:off x="311700" y="1152475"/>
            <a:ext cx="40839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32500" lnSpcReduction="10000"/>
          </a:bodyPr>
          <a:lstStyle/>
          <a:p>
            <a:pPr indent="0" lvl="0" marL="0" rtl="0" algn="l">
              <a:spcBef>
                <a:spcPts val="0"/>
              </a:spcBef>
              <a:spcAft>
                <a:spcPts val="0"/>
              </a:spcAft>
              <a:buNone/>
            </a:pPr>
            <a:r>
              <a:rPr i="1" lang="es" sz="2868">
                <a:solidFill>
                  <a:srgbClr val="408090"/>
                </a:solidFill>
                <a:highlight>
                  <a:srgbClr val="EEFFCC"/>
                </a:highlight>
                <a:latin typeface="Courier New"/>
                <a:ea typeface="Courier New"/>
                <a:cs typeface="Courier New"/>
                <a:sym typeface="Courier New"/>
              </a:rPr>
              <a:t># Example using PIO to blink an LED and raise an IRQ at 1Hz.</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b="1" lang="es" sz="2868">
                <a:solidFill>
                  <a:srgbClr val="007020"/>
                </a:solidFill>
                <a:highlight>
                  <a:srgbClr val="EEFFCC"/>
                </a:highlight>
                <a:latin typeface="Courier New"/>
                <a:ea typeface="Courier New"/>
                <a:cs typeface="Courier New"/>
                <a:sym typeface="Courier New"/>
              </a:rPr>
              <a:t>import</a:t>
            </a:r>
            <a:r>
              <a:rPr lang="es" sz="2868">
                <a:solidFill>
                  <a:srgbClr val="BBBBBB"/>
                </a:solidFill>
                <a:highlight>
                  <a:srgbClr val="EEFFCC"/>
                </a:highlight>
                <a:latin typeface="Courier New"/>
                <a:ea typeface="Courier New"/>
                <a:cs typeface="Courier New"/>
                <a:sym typeface="Courier New"/>
              </a:rPr>
              <a:t> </a:t>
            </a:r>
            <a:r>
              <a:rPr b="1" lang="es" sz="2868">
                <a:solidFill>
                  <a:srgbClr val="0E84B5"/>
                </a:solidFill>
                <a:highlight>
                  <a:srgbClr val="EEFFCC"/>
                </a:highlight>
                <a:latin typeface="Courier New"/>
                <a:ea typeface="Courier New"/>
                <a:cs typeface="Courier New"/>
                <a:sym typeface="Courier New"/>
              </a:rPr>
              <a:t>time</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b="1" lang="es" sz="2868">
                <a:solidFill>
                  <a:srgbClr val="007020"/>
                </a:solidFill>
                <a:highlight>
                  <a:srgbClr val="EEFFCC"/>
                </a:highlight>
                <a:latin typeface="Courier New"/>
                <a:ea typeface="Courier New"/>
                <a:cs typeface="Courier New"/>
                <a:sym typeface="Courier New"/>
              </a:rPr>
              <a:t>from</a:t>
            </a:r>
            <a:r>
              <a:rPr lang="es" sz="2868">
                <a:solidFill>
                  <a:srgbClr val="BBBBBB"/>
                </a:solidFill>
                <a:highlight>
                  <a:srgbClr val="EEFFCC"/>
                </a:highlight>
                <a:latin typeface="Courier New"/>
                <a:ea typeface="Courier New"/>
                <a:cs typeface="Courier New"/>
                <a:sym typeface="Courier New"/>
              </a:rPr>
              <a:t> </a:t>
            </a:r>
            <a:r>
              <a:rPr b="1" lang="es" sz="2868">
                <a:solidFill>
                  <a:srgbClr val="0E84B5"/>
                </a:solidFill>
                <a:highlight>
                  <a:srgbClr val="EEFFCC"/>
                </a:highlight>
                <a:latin typeface="Courier New"/>
                <a:ea typeface="Courier New"/>
                <a:cs typeface="Courier New"/>
                <a:sym typeface="Courier New"/>
              </a:rPr>
              <a:t>machine</a:t>
            </a:r>
            <a:r>
              <a:rPr lang="es" sz="2868">
                <a:solidFill>
                  <a:srgbClr val="BBBBBB"/>
                </a:solidFill>
                <a:highlight>
                  <a:srgbClr val="EEFFCC"/>
                </a:highlight>
                <a:latin typeface="Courier New"/>
                <a:ea typeface="Courier New"/>
                <a:cs typeface="Courier New"/>
                <a:sym typeface="Courier New"/>
              </a:rPr>
              <a:t> </a:t>
            </a:r>
            <a:r>
              <a:rPr b="1" lang="es" sz="2868">
                <a:solidFill>
                  <a:srgbClr val="007020"/>
                </a:solidFill>
                <a:highlight>
                  <a:srgbClr val="EEFFCC"/>
                </a:highlight>
                <a:latin typeface="Courier New"/>
                <a:ea typeface="Courier New"/>
                <a:cs typeface="Courier New"/>
                <a:sym typeface="Courier New"/>
              </a:rPr>
              <a:t>import</a:t>
            </a:r>
            <a:r>
              <a:rPr lang="es" sz="2868">
                <a:solidFill>
                  <a:srgbClr val="404040"/>
                </a:solidFill>
                <a:highlight>
                  <a:srgbClr val="EEFFCC"/>
                </a:highlight>
                <a:latin typeface="Courier New"/>
                <a:ea typeface="Courier New"/>
                <a:cs typeface="Courier New"/>
                <a:sym typeface="Courier New"/>
              </a:rPr>
              <a:t> Pin</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b="1" lang="es" sz="2868">
                <a:solidFill>
                  <a:srgbClr val="007020"/>
                </a:solidFill>
                <a:highlight>
                  <a:srgbClr val="EEFFCC"/>
                </a:highlight>
                <a:latin typeface="Courier New"/>
                <a:ea typeface="Courier New"/>
                <a:cs typeface="Courier New"/>
                <a:sym typeface="Courier New"/>
              </a:rPr>
              <a:t>import</a:t>
            </a:r>
            <a:r>
              <a:rPr lang="es" sz="2868">
                <a:solidFill>
                  <a:srgbClr val="BBBBBB"/>
                </a:solidFill>
                <a:highlight>
                  <a:srgbClr val="EEFFCC"/>
                </a:highlight>
                <a:latin typeface="Courier New"/>
                <a:ea typeface="Courier New"/>
                <a:cs typeface="Courier New"/>
                <a:sym typeface="Courier New"/>
              </a:rPr>
              <a:t> </a:t>
            </a:r>
            <a:r>
              <a:rPr b="1" lang="es" sz="2868">
                <a:solidFill>
                  <a:srgbClr val="0E84B5"/>
                </a:solidFill>
                <a:highlight>
                  <a:srgbClr val="EEFFCC"/>
                </a:highlight>
                <a:latin typeface="Courier New"/>
                <a:ea typeface="Courier New"/>
                <a:cs typeface="Courier New"/>
                <a:sym typeface="Courier New"/>
              </a:rPr>
              <a:t>rp2</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—----------------------------------------&gt;&gt;&gt;&gt;&gt;&gt;&gt;&gt;&gt;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i="1" lang="es" sz="2868">
                <a:solidFill>
                  <a:srgbClr val="408090"/>
                </a:solidFill>
                <a:highlight>
                  <a:srgbClr val="EEFFCC"/>
                </a:highlight>
                <a:latin typeface="Courier New"/>
                <a:ea typeface="Courier New"/>
                <a:cs typeface="Courier New"/>
                <a:sym typeface="Courier New"/>
              </a:rPr>
              <a:t># Create the StateMachine with the blink_1hz program, outputting on Pin(25).</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sm </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 rp2</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StateMachine(</a:t>
            </a:r>
            <a:r>
              <a:rPr lang="es" sz="2868">
                <a:solidFill>
                  <a:srgbClr val="208050"/>
                </a:solidFill>
                <a:highlight>
                  <a:srgbClr val="EEFFCC"/>
                </a:highlight>
                <a:latin typeface="Courier New"/>
                <a:ea typeface="Courier New"/>
                <a:cs typeface="Courier New"/>
                <a:sym typeface="Courier New"/>
              </a:rPr>
              <a:t>0</a:t>
            </a:r>
            <a:r>
              <a:rPr lang="es" sz="2868">
                <a:solidFill>
                  <a:srgbClr val="404040"/>
                </a:solidFill>
                <a:highlight>
                  <a:srgbClr val="EEFFCC"/>
                </a:highlight>
                <a:latin typeface="Courier New"/>
                <a:ea typeface="Courier New"/>
                <a:cs typeface="Courier New"/>
                <a:sym typeface="Courier New"/>
              </a:rPr>
              <a:t>, blink_1hz, freq</a:t>
            </a:r>
            <a:r>
              <a:rPr lang="es" sz="2868">
                <a:solidFill>
                  <a:srgbClr val="666666"/>
                </a:solidFill>
                <a:highlight>
                  <a:srgbClr val="EEFFCC"/>
                </a:highlight>
                <a:latin typeface="Courier New"/>
                <a:ea typeface="Courier New"/>
                <a:cs typeface="Courier New"/>
                <a:sym typeface="Courier New"/>
              </a:rPr>
              <a:t>=</a:t>
            </a:r>
            <a:r>
              <a:rPr lang="es" sz="2868">
                <a:solidFill>
                  <a:srgbClr val="208050"/>
                </a:solidFill>
                <a:highlight>
                  <a:srgbClr val="EEFFCC"/>
                </a:highlight>
                <a:latin typeface="Courier New"/>
                <a:ea typeface="Courier New"/>
                <a:cs typeface="Courier New"/>
                <a:sym typeface="Courier New"/>
              </a:rPr>
              <a:t>2000</a:t>
            </a:r>
            <a:r>
              <a:rPr lang="es" sz="2868">
                <a:solidFill>
                  <a:srgbClr val="404040"/>
                </a:solidFill>
                <a:highlight>
                  <a:srgbClr val="EEFFCC"/>
                </a:highlight>
                <a:latin typeface="Courier New"/>
                <a:ea typeface="Courier New"/>
                <a:cs typeface="Courier New"/>
                <a:sym typeface="Courier New"/>
              </a:rPr>
              <a:t>, set_base</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Pin(</a:t>
            </a:r>
            <a:r>
              <a:rPr lang="es" sz="2868">
                <a:solidFill>
                  <a:srgbClr val="208050"/>
                </a:solidFill>
                <a:highlight>
                  <a:srgbClr val="EEFFCC"/>
                </a:highlight>
                <a:latin typeface="Courier New"/>
                <a:ea typeface="Courier New"/>
                <a:cs typeface="Courier New"/>
                <a:sym typeface="Courier New"/>
              </a:rPr>
              <a:t>25</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i="1" lang="es" sz="2868">
                <a:solidFill>
                  <a:srgbClr val="408090"/>
                </a:solidFill>
                <a:highlight>
                  <a:srgbClr val="EEFFCC"/>
                </a:highlight>
                <a:latin typeface="Courier New"/>
                <a:ea typeface="Courier New"/>
                <a:cs typeface="Courier New"/>
                <a:sym typeface="Courier New"/>
              </a:rPr>
              <a:t># Set the IRQ handler to print the millisecond timestamp.</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sm</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irq(</a:t>
            </a:r>
            <a:r>
              <a:rPr b="1" lang="es" sz="2868">
                <a:solidFill>
                  <a:srgbClr val="007020"/>
                </a:solidFill>
                <a:highlight>
                  <a:srgbClr val="EEFFCC"/>
                </a:highlight>
                <a:latin typeface="Courier New"/>
                <a:ea typeface="Courier New"/>
                <a:cs typeface="Courier New"/>
                <a:sym typeface="Courier New"/>
              </a:rPr>
              <a:t>lambda</a:t>
            </a:r>
            <a:r>
              <a:rPr lang="es" sz="2868">
                <a:solidFill>
                  <a:srgbClr val="404040"/>
                </a:solidFill>
                <a:highlight>
                  <a:srgbClr val="EEFFCC"/>
                </a:highlight>
                <a:latin typeface="Courier New"/>
                <a:ea typeface="Courier New"/>
                <a:cs typeface="Courier New"/>
                <a:sym typeface="Courier New"/>
              </a:rPr>
              <a:t> p: </a:t>
            </a:r>
            <a:r>
              <a:rPr lang="es" sz="2868">
                <a:solidFill>
                  <a:srgbClr val="007020"/>
                </a:solidFill>
                <a:highlight>
                  <a:srgbClr val="EEFFCC"/>
                </a:highlight>
                <a:latin typeface="Courier New"/>
                <a:ea typeface="Courier New"/>
                <a:cs typeface="Courier New"/>
                <a:sym typeface="Courier New"/>
              </a:rPr>
              <a:t>print</a:t>
            </a:r>
            <a:r>
              <a:rPr lang="es" sz="2868">
                <a:solidFill>
                  <a:srgbClr val="404040"/>
                </a:solidFill>
                <a:highlight>
                  <a:srgbClr val="EEFFCC"/>
                </a:highlight>
                <a:latin typeface="Courier New"/>
                <a:ea typeface="Courier New"/>
                <a:cs typeface="Courier New"/>
                <a:sym typeface="Courier New"/>
              </a:rPr>
              <a:t>(time</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ticks_ms()))</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i="1" lang="es" sz="2868">
                <a:solidFill>
                  <a:srgbClr val="408090"/>
                </a:solidFill>
                <a:highlight>
                  <a:srgbClr val="EEFFCC"/>
                </a:highlight>
                <a:latin typeface="Courier New"/>
                <a:ea typeface="Courier New"/>
                <a:cs typeface="Courier New"/>
                <a:sym typeface="Courier New"/>
              </a:rPr>
              <a:t># Start the StateMachine.</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sm</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active(</a:t>
            </a:r>
            <a:r>
              <a:rPr lang="es" sz="2868">
                <a:solidFill>
                  <a:srgbClr val="208050"/>
                </a:solidFill>
                <a:highlight>
                  <a:srgbClr val="EEFFCC"/>
                </a:highlight>
                <a:latin typeface="Courier New"/>
                <a:ea typeface="Courier New"/>
                <a:cs typeface="Courier New"/>
                <a:sym typeface="Courier New"/>
              </a:rPr>
              <a:t>1</a:t>
            </a:r>
            <a:r>
              <a:rPr lang="es" sz="2868">
                <a:solidFill>
                  <a:srgbClr val="404040"/>
                </a:solidFill>
                <a:highlight>
                  <a:srgbClr val="EEFFCC"/>
                </a:highlight>
                <a:latin typeface="Courier New"/>
                <a:ea typeface="Courier New"/>
                <a:cs typeface="Courier New"/>
                <a:sym typeface="Courier New"/>
              </a:rPr>
              <a:t>)</a:t>
            </a:r>
            <a:endParaRPr/>
          </a:p>
        </p:txBody>
      </p:sp>
      <p:sp>
        <p:nvSpPr>
          <p:cNvPr id="193" name="Google Shape;193;g395459f6e61_0_16"/>
          <p:cNvSpPr txBox="1"/>
          <p:nvPr>
            <p:ph idx="1" type="body"/>
          </p:nvPr>
        </p:nvSpPr>
        <p:spPr>
          <a:xfrm>
            <a:off x="4748400" y="1152475"/>
            <a:ext cx="4083900" cy="34164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32500"/>
          </a:bodyPr>
          <a:lstStyle/>
          <a:p>
            <a:pPr indent="0" lvl="0" marL="0" rtl="0" algn="l">
              <a:spcBef>
                <a:spcPts val="0"/>
              </a:spcBef>
              <a:spcAft>
                <a:spcPts val="0"/>
              </a:spcAft>
              <a:buNone/>
            </a:pPr>
            <a:r>
              <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b="1" lang="es" sz="2868">
                <a:solidFill>
                  <a:srgbClr val="555555"/>
                </a:solidFill>
                <a:highlight>
                  <a:srgbClr val="EEFFCC"/>
                </a:highlight>
                <a:latin typeface="Courier New"/>
                <a:ea typeface="Courier New"/>
                <a:cs typeface="Courier New"/>
                <a:sym typeface="Courier New"/>
              </a:rPr>
              <a:t>@rp2</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asm_pio(set_init</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rp2</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PIO</a:t>
            </a:r>
            <a:r>
              <a:rPr lang="es" sz="2868">
                <a:solidFill>
                  <a:srgbClr val="666666"/>
                </a:solidFill>
                <a:highlight>
                  <a:srgbClr val="EEFFCC"/>
                </a:highlight>
                <a:latin typeface="Courier New"/>
                <a:ea typeface="Courier New"/>
                <a:cs typeface="Courier New"/>
                <a:sym typeface="Courier New"/>
              </a:rPr>
              <a:t>.</a:t>
            </a:r>
            <a:r>
              <a:rPr lang="es" sz="2868">
                <a:solidFill>
                  <a:srgbClr val="404040"/>
                </a:solidFill>
                <a:highlight>
                  <a:srgbClr val="EEFFCC"/>
                </a:highlight>
                <a:latin typeface="Courier New"/>
                <a:ea typeface="Courier New"/>
                <a:cs typeface="Courier New"/>
                <a:sym typeface="Courier New"/>
              </a:rPr>
              <a:t>OUT_LOW)</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b="1" lang="es" sz="2868">
                <a:solidFill>
                  <a:srgbClr val="007020"/>
                </a:solidFill>
                <a:highlight>
                  <a:srgbClr val="EEFFCC"/>
                </a:highlight>
                <a:latin typeface="Courier New"/>
                <a:ea typeface="Courier New"/>
                <a:cs typeface="Courier New"/>
                <a:sym typeface="Courier New"/>
              </a:rPr>
              <a:t>def</a:t>
            </a:r>
            <a:r>
              <a:rPr lang="es" sz="2868">
                <a:solidFill>
                  <a:srgbClr val="BBBBBB"/>
                </a:solidFill>
                <a:highlight>
                  <a:srgbClr val="EEFFCC"/>
                </a:highlight>
                <a:latin typeface="Courier New"/>
                <a:ea typeface="Courier New"/>
                <a:cs typeface="Courier New"/>
                <a:sym typeface="Courier New"/>
              </a:rPr>
              <a:t> </a:t>
            </a:r>
            <a:r>
              <a:rPr lang="es" sz="2868">
                <a:solidFill>
                  <a:srgbClr val="06287E"/>
                </a:solidFill>
                <a:highlight>
                  <a:srgbClr val="EEFFCC"/>
                </a:highlight>
                <a:latin typeface="Courier New"/>
                <a:ea typeface="Courier New"/>
                <a:cs typeface="Courier New"/>
                <a:sym typeface="Courier New"/>
              </a:rPr>
              <a:t>blink_1hz</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a:t>
            </a:r>
            <a:r>
              <a:rPr i="1" lang="es" sz="2868">
                <a:solidFill>
                  <a:srgbClr val="408090"/>
                </a:solidFill>
                <a:highlight>
                  <a:srgbClr val="EEFFCC"/>
                </a:highlight>
                <a:latin typeface="Courier New"/>
                <a:ea typeface="Courier New"/>
                <a:cs typeface="Courier New"/>
                <a:sym typeface="Courier New"/>
              </a:rPr>
              <a:t># Cycles: 1 + 1 + 6 + 32 * (30 + 1) = 1000</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irq(rel(</a:t>
            </a:r>
            <a:r>
              <a:rPr lang="es" sz="2868">
                <a:solidFill>
                  <a:srgbClr val="208050"/>
                </a:solidFill>
                <a:highlight>
                  <a:srgbClr val="EEFFCC"/>
                </a:highlight>
                <a:latin typeface="Courier New"/>
                <a:ea typeface="Courier New"/>
                <a:cs typeface="Courier New"/>
                <a:sym typeface="Courier New"/>
              </a:rPr>
              <a:t>0</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a:t>
            </a:r>
            <a:r>
              <a:rPr lang="es" sz="2868">
                <a:solidFill>
                  <a:srgbClr val="007020"/>
                </a:solidFill>
                <a:highlight>
                  <a:srgbClr val="EEFFCC"/>
                </a:highlight>
                <a:latin typeface="Courier New"/>
                <a:ea typeface="Courier New"/>
                <a:cs typeface="Courier New"/>
                <a:sym typeface="Courier New"/>
              </a:rPr>
              <a:t>set</a:t>
            </a:r>
            <a:r>
              <a:rPr lang="es" sz="2868">
                <a:solidFill>
                  <a:srgbClr val="404040"/>
                </a:solidFill>
                <a:highlight>
                  <a:srgbClr val="EEFFCC"/>
                </a:highlight>
                <a:latin typeface="Courier New"/>
                <a:ea typeface="Courier New"/>
                <a:cs typeface="Courier New"/>
                <a:sym typeface="Courier New"/>
              </a:rPr>
              <a:t>(pins, </a:t>
            </a:r>
            <a:r>
              <a:rPr lang="es" sz="2868">
                <a:solidFill>
                  <a:srgbClr val="208050"/>
                </a:solidFill>
                <a:highlight>
                  <a:srgbClr val="EEFFCC"/>
                </a:highlight>
                <a:latin typeface="Courier New"/>
                <a:ea typeface="Courier New"/>
                <a:cs typeface="Courier New"/>
                <a:sym typeface="Courier New"/>
              </a:rPr>
              <a:t>1</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a:t>
            </a:r>
            <a:r>
              <a:rPr lang="es" sz="2868">
                <a:solidFill>
                  <a:srgbClr val="007020"/>
                </a:solidFill>
                <a:highlight>
                  <a:srgbClr val="EEFFCC"/>
                </a:highlight>
                <a:latin typeface="Courier New"/>
                <a:ea typeface="Courier New"/>
                <a:cs typeface="Courier New"/>
                <a:sym typeface="Courier New"/>
              </a:rPr>
              <a:t>set</a:t>
            </a:r>
            <a:r>
              <a:rPr lang="es" sz="2868">
                <a:solidFill>
                  <a:srgbClr val="404040"/>
                </a:solidFill>
                <a:highlight>
                  <a:srgbClr val="EEFFCC"/>
                </a:highlight>
                <a:latin typeface="Courier New"/>
                <a:ea typeface="Courier New"/>
                <a:cs typeface="Courier New"/>
                <a:sym typeface="Courier New"/>
              </a:rPr>
              <a:t>(x, </a:t>
            </a:r>
            <a:r>
              <a:rPr lang="es" sz="2868">
                <a:solidFill>
                  <a:srgbClr val="208050"/>
                </a:solidFill>
                <a:highlight>
                  <a:srgbClr val="EEFFCC"/>
                </a:highlight>
                <a:latin typeface="Courier New"/>
                <a:ea typeface="Courier New"/>
                <a:cs typeface="Courier New"/>
                <a:sym typeface="Courier New"/>
              </a:rPr>
              <a:t>31</a:t>
            </a:r>
            <a:r>
              <a:rPr lang="es" sz="2868">
                <a:solidFill>
                  <a:srgbClr val="404040"/>
                </a:solidFill>
                <a:highlight>
                  <a:srgbClr val="EEFFCC"/>
                </a:highlight>
                <a:latin typeface="Courier New"/>
                <a:ea typeface="Courier New"/>
                <a:cs typeface="Courier New"/>
                <a:sym typeface="Courier New"/>
              </a:rPr>
              <a:t>)                  [</a:t>
            </a:r>
            <a:r>
              <a:rPr lang="es" sz="2868">
                <a:solidFill>
                  <a:srgbClr val="208050"/>
                </a:solidFill>
                <a:highlight>
                  <a:srgbClr val="EEFFCC"/>
                </a:highlight>
                <a:latin typeface="Courier New"/>
                <a:ea typeface="Courier New"/>
                <a:cs typeface="Courier New"/>
                <a:sym typeface="Courier New"/>
              </a:rPr>
              <a:t>5</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label(</a:t>
            </a:r>
            <a:r>
              <a:rPr lang="es" sz="2868">
                <a:solidFill>
                  <a:srgbClr val="4070A0"/>
                </a:solidFill>
                <a:highlight>
                  <a:srgbClr val="EEFFCC"/>
                </a:highlight>
                <a:latin typeface="Courier New"/>
                <a:ea typeface="Courier New"/>
                <a:cs typeface="Courier New"/>
                <a:sym typeface="Courier New"/>
              </a:rPr>
              <a:t>"delay_high"</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nop()                       [</a:t>
            </a:r>
            <a:r>
              <a:rPr lang="es" sz="2868">
                <a:solidFill>
                  <a:srgbClr val="208050"/>
                </a:solidFill>
                <a:highlight>
                  <a:srgbClr val="EEFFCC"/>
                </a:highlight>
                <a:latin typeface="Courier New"/>
                <a:ea typeface="Courier New"/>
                <a:cs typeface="Courier New"/>
                <a:sym typeface="Courier New"/>
              </a:rPr>
              <a:t>29</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jmp(x_dec, </a:t>
            </a:r>
            <a:r>
              <a:rPr lang="es" sz="2868">
                <a:solidFill>
                  <a:srgbClr val="4070A0"/>
                </a:solidFill>
                <a:highlight>
                  <a:srgbClr val="EEFFCC"/>
                </a:highlight>
                <a:latin typeface="Courier New"/>
                <a:ea typeface="Courier New"/>
                <a:cs typeface="Courier New"/>
                <a:sym typeface="Courier New"/>
              </a:rPr>
              <a:t>"delay_high"</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a:t>
            </a:r>
            <a:r>
              <a:rPr i="1" lang="es" sz="2868">
                <a:solidFill>
                  <a:srgbClr val="408090"/>
                </a:solidFill>
                <a:highlight>
                  <a:srgbClr val="EEFFCC"/>
                </a:highlight>
                <a:latin typeface="Courier New"/>
                <a:ea typeface="Courier New"/>
                <a:cs typeface="Courier New"/>
                <a:sym typeface="Courier New"/>
              </a:rPr>
              <a:t># Cycles: 1 + 1 + 6 + 32 * (30 + 1) = 1000</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nop()</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a:t>
            </a:r>
            <a:r>
              <a:rPr lang="es" sz="2868">
                <a:solidFill>
                  <a:srgbClr val="007020"/>
                </a:solidFill>
                <a:highlight>
                  <a:srgbClr val="EEFFCC"/>
                </a:highlight>
                <a:latin typeface="Courier New"/>
                <a:ea typeface="Courier New"/>
                <a:cs typeface="Courier New"/>
                <a:sym typeface="Courier New"/>
              </a:rPr>
              <a:t>set</a:t>
            </a:r>
            <a:r>
              <a:rPr lang="es" sz="2868">
                <a:solidFill>
                  <a:srgbClr val="404040"/>
                </a:solidFill>
                <a:highlight>
                  <a:srgbClr val="EEFFCC"/>
                </a:highlight>
                <a:latin typeface="Courier New"/>
                <a:ea typeface="Courier New"/>
                <a:cs typeface="Courier New"/>
                <a:sym typeface="Courier New"/>
              </a:rPr>
              <a:t>(pins, </a:t>
            </a:r>
            <a:r>
              <a:rPr lang="es" sz="2868">
                <a:solidFill>
                  <a:srgbClr val="208050"/>
                </a:solidFill>
                <a:highlight>
                  <a:srgbClr val="EEFFCC"/>
                </a:highlight>
                <a:latin typeface="Courier New"/>
                <a:ea typeface="Courier New"/>
                <a:cs typeface="Courier New"/>
                <a:sym typeface="Courier New"/>
              </a:rPr>
              <a:t>0</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a:t>
            </a:r>
            <a:r>
              <a:rPr lang="es" sz="2868">
                <a:solidFill>
                  <a:srgbClr val="007020"/>
                </a:solidFill>
                <a:highlight>
                  <a:srgbClr val="EEFFCC"/>
                </a:highlight>
                <a:latin typeface="Courier New"/>
                <a:ea typeface="Courier New"/>
                <a:cs typeface="Courier New"/>
                <a:sym typeface="Courier New"/>
              </a:rPr>
              <a:t>set</a:t>
            </a:r>
            <a:r>
              <a:rPr lang="es" sz="2868">
                <a:solidFill>
                  <a:srgbClr val="404040"/>
                </a:solidFill>
                <a:highlight>
                  <a:srgbClr val="EEFFCC"/>
                </a:highlight>
                <a:latin typeface="Courier New"/>
                <a:ea typeface="Courier New"/>
                <a:cs typeface="Courier New"/>
                <a:sym typeface="Courier New"/>
              </a:rPr>
              <a:t>(x, </a:t>
            </a:r>
            <a:r>
              <a:rPr lang="es" sz="2868">
                <a:solidFill>
                  <a:srgbClr val="208050"/>
                </a:solidFill>
                <a:highlight>
                  <a:srgbClr val="EEFFCC"/>
                </a:highlight>
                <a:latin typeface="Courier New"/>
                <a:ea typeface="Courier New"/>
                <a:cs typeface="Courier New"/>
                <a:sym typeface="Courier New"/>
              </a:rPr>
              <a:t>31</a:t>
            </a:r>
            <a:r>
              <a:rPr lang="es" sz="2868">
                <a:solidFill>
                  <a:srgbClr val="404040"/>
                </a:solidFill>
                <a:highlight>
                  <a:srgbClr val="EEFFCC"/>
                </a:highlight>
                <a:latin typeface="Courier New"/>
                <a:ea typeface="Courier New"/>
                <a:cs typeface="Courier New"/>
                <a:sym typeface="Courier New"/>
              </a:rPr>
              <a:t>)                  [</a:t>
            </a:r>
            <a:r>
              <a:rPr lang="es" sz="2868">
                <a:solidFill>
                  <a:srgbClr val="208050"/>
                </a:solidFill>
                <a:highlight>
                  <a:srgbClr val="EEFFCC"/>
                </a:highlight>
                <a:latin typeface="Courier New"/>
                <a:ea typeface="Courier New"/>
                <a:cs typeface="Courier New"/>
                <a:sym typeface="Courier New"/>
              </a:rPr>
              <a:t>5</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label(</a:t>
            </a:r>
            <a:r>
              <a:rPr lang="es" sz="2868">
                <a:solidFill>
                  <a:srgbClr val="4070A0"/>
                </a:solidFill>
                <a:highlight>
                  <a:srgbClr val="EEFFCC"/>
                </a:highlight>
                <a:latin typeface="Courier New"/>
                <a:ea typeface="Courier New"/>
                <a:cs typeface="Courier New"/>
                <a:sym typeface="Courier New"/>
              </a:rPr>
              <a:t>"delay_low"</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nop()                       [</a:t>
            </a:r>
            <a:r>
              <a:rPr lang="es" sz="2868">
                <a:solidFill>
                  <a:srgbClr val="208050"/>
                </a:solidFill>
                <a:highlight>
                  <a:srgbClr val="EEFFCC"/>
                </a:highlight>
                <a:latin typeface="Courier New"/>
                <a:ea typeface="Courier New"/>
                <a:cs typeface="Courier New"/>
                <a:sym typeface="Courier New"/>
              </a:rPr>
              <a:t>29</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rPr lang="es" sz="2868">
                <a:solidFill>
                  <a:srgbClr val="404040"/>
                </a:solidFill>
                <a:highlight>
                  <a:srgbClr val="EEFFCC"/>
                </a:highlight>
                <a:latin typeface="Courier New"/>
                <a:ea typeface="Courier New"/>
                <a:cs typeface="Courier New"/>
                <a:sym typeface="Courier New"/>
              </a:rPr>
              <a:t>    jmp(x_dec, </a:t>
            </a:r>
            <a:r>
              <a:rPr lang="es" sz="2868">
                <a:solidFill>
                  <a:srgbClr val="4070A0"/>
                </a:solidFill>
                <a:highlight>
                  <a:srgbClr val="EEFFCC"/>
                </a:highlight>
                <a:latin typeface="Courier New"/>
                <a:ea typeface="Courier New"/>
                <a:cs typeface="Courier New"/>
                <a:sym typeface="Courier New"/>
              </a:rPr>
              <a:t>"delay_low"</a:t>
            </a:r>
            <a:r>
              <a:rPr lang="es" sz="2868">
                <a:solidFill>
                  <a:srgbClr val="404040"/>
                </a:solidFill>
                <a:highlight>
                  <a:srgbClr val="EEFFCC"/>
                </a:highlight>
                <a:latin typeface="Courier New"/>
                <a:ea typeface="Courier New"/>
                <a:cs typeface="Courier New"/>
                <a:sym typeface="Courier New"/>
              </a:rPr>
              <a:t>)</a:t>
            </a:r>
            <a:endParaRPr sz="2868">
              <a:solidFill>
                <a:srgbClr val="404040"/>
              </a:solidFill>
              <a:highlight>
                <a:srgbClr val="EEFFCC"/>
              </a:highlight>
              <a:latin typeface="Courier New"/>
              <a:ea typeface="Courier New"/>
              <a:cs typeface="Courier New"/>
              <a:sym typeface="Courier New"/>
            </a:endParaRPr>
          </a:p>
          <a:p>
            <a:pPr indent="0" lvl="0" marL="0" rtl="0" algn="l">
              <a:spcBef>
                <a:spcPts val="0"/>
              </a:spcBef>
              <a:spcAft>
                <a:spcPts val="0"/>
              </a:spcAft>
              <a:buNone/>
            </a:pPr>
            <a:r>
              <a:t/>
            </a:r>
            <a:endParaRPr/>
          </a:p>
        </p:txBody>
      </p:sp>
      <p:cxnSp>
        <p:nvCxnSpPr>
          <p:cNvPr id="194" name="Google Shape;194;g395459f6e61_0_16"/>
          <p:cNvCxnSpPr/>
          <p:nvPr/>
        </p:nvCxnSpPr>
        <p:spPr>
          <a:xfrm flipH="1" rot="10800000">
            <a:off x="4028275" y="2365700"/>
            <a:ext cx="616200" cy="35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